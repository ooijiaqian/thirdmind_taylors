
<file path=[Content_Types].xml><?xml version="1.0" encoding="utf-8"?>
<Types xmlns="http://schemas.openxmlformats.org/package/2006/content-types">
  <Default Extension="svg" ContentType="image/svg+xml"/>
  <Default Extension="png" ContentType="image/png"/>
  <Default Extension="xml" ContentType="application/xml"/>
  <Default Extension="rels" ContentType="application/vnd.openxmlformats-package.relationships+xml"/>
  <Override PartName="/ppt/slides/slide2.xml" ContentType="application/vnd.openxmlformats-officedocument.presentationml.slide+xml"/>
  <Override PartName="/ppt/theme/theme2.xml" ContentType="application/vnd.openxmlformats-officedocument.theme+xml"/>
  <Override PartName="/ppt/slides/slide3.xml" ContentType="application/vnd.openxmlformats-officedocument.presentationml.slide+xml"/>
  <Override PartName="/ppt/slides/slide6.xml" ContentType="application/vnd.openxmlformats-officedocument.presentationml.slide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5.xml" ContentType="application/vnd.openxmlformats-officedocument.presentationml.slide+xml"/>
  <Override PartName="/ppt/theme/theme1.xml" ContentType="application/vnd.openxmlformats-officedocument.theme+xml"/>
  <Override PartName="/ppt/slides/slide7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notesMasters/notesMaster1.xml" ContentType="application/vnd.openxmlformats-officedocument.presentationml.notesMaster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docProps/core.xml" ContentType="application/vnd.openxmlformats-package.core-properties+xml"/>
  <Override PartName="/docProps/custom.xml" ContentType="application/vnd.openxmlformats-officedocument.custom-properties+xml"/>
</Types>
</file>

<file path=_rels/.rels><?xml version="1.0" encoding="UTF-8" standalone="yes"?><Relationships xmlns="http://schemas.openxmlformats.org/package/2006/relationships"><Relationship Id="rId3" Type="http://schemas.openxmlformats.org/officeDocument/2006/relationships/custom-properties" Target="docProps/custom.xml" /><Relationship Id="rId1" Type="http://schemas.openxmlformats.org/package/2006/relationships/metadata/core-properties" Target="docProps/core.xml" /><Relationship Id="rId2" Type="http://schemas.openxmlformats.org/officeDocument/2006/relationships/extended-properties" Target="docProps/app.xml" /><Relationship Id="rId0" Type="http://schemas.openxmlformats.org/officeDocument/2006/relationships/officeDocument" Target="ppt/presentation.xml" /></Relationships>
</file>

<file path=ppt/presentation.xml><?xml version="1.0" encoding="utf-8"?>
<p:presentation xmlns:r="http://schemas.openxmlformats.org/officeDocument/2006/relationships" xmlns:p="http://schemas.openxmlformats.org/presentationml/2006/main" xmlns:a="http://schemas.openxmlformats.org/drawingml/2006/main" firstSlideNum="1">
  <p:sldMasterIdLst>
    <p:sldMasterId id="2147483648" r:id="rId0"/>
  </p:sldMasterIdLst>
  <p:notesMasterIdLst>
    <p:notesMasterId r:id="rId8"/>
  </p:notes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  <p:ext uri="{FD5EFAAD-0ECE-453E-9831-46B23BE46B34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a="http://schemas.openxmlformats.org/drawing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9" Type="http://schemas.openxmlformats.org/officeDocument/2006/relationships/presProps" Target="presProps.xml" /><Relationship Id="rId10" Type="http://schemas.openxmlformats.org/officeDocument/2006/relationships/tableStyles" Target="tableStyles.xml" /><Relationship Id="rId7" Type="http://schemas.openxmlformats.org/officeDocument/2006/relationships/slide" Target="slides/slide7.xml" /><Relationship Id="rId11" Type="http://schemas.openxmlformats.org/officeDocument/2006/relationships/viewProps" Target="viewProps.xml" /><Relationship Id="rId6" Type="http://schemas.openxmlformats.org/officeDocument/2006/relationships/slide" Target="slides/slide6.xml" /><Relationship Id="rId5" Type="http://schemas.openxmlformats.org/officeDocument/2006/relationships/slide" Target="slides/slide5.xml" /><Relationship Id="rId0" Type="http://schemas.openxmlformats.org/officeDocument/2006/relationships/slideMaster" Target="slideMasters/slideMaster1.xml" /><Relationship Id="rId4" Type="http://schemas.openxmlformats.org/officeDocument/2006/relationships/slide" Target="slides/slide4.xml" /><Relationship Id="rId3" Type="http://schemas.openxmlformats.org/officeDocument/2006/relationships/slide" Target="slides/slide3.xml" /><Relationship Id="rId2" Type="http://schemas.openxmlformats.org/officeDocument/2006/relationships/slide" Target="slides/slide2.xml" /><Relationship Id="rId1" Type="http://schemas.openxmlformats.org/officeDocument/2006/relationships/slide" Target="slides/slide1.xml" /><Relationship Id="rId8" Type="http://schemas.openxmlformats.org/officeDocument/2006/relationships/notesMaster" Target="notesMasters/notesMaster1.xml" /></Relationships>
</file>

<file path=ppt/notesMasters/_rels/notesMaster1.xml.rels><?xml version="1.0" encoding="UTF-8" standalone="yes"?><Relationships xmlns="http://schemas.openxmlformats.org/package/2006/relationships"><Relationship Id="rId0" Type="http://schemas.openxmlformats.org/officeDocument/2006/relationships/theme" Target="../theme/theme2.xml" /></Relationships>
</file>

<file path=ppt/notesMasters/notesMaster1.xml><?xml version="1.0" encoding="utf-8"?>
<p:notesMaster xmlns:p="http://schemas.openxmlformats.org/presentationml/2006/main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p="http://schemas.openxmlformats.org/presentationml/2006/main" xmlns:a="http://schemas.openxmlformats.org/drawing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1.xml" /><Relationship Id="rId0" Type="http://schemas.openxmlformats.org/officeDocument/2006/relationships/slideLayout" Target="../slideLayouts/slideLayout1.xml" /></Relationships>
</file>

<file path=ppt/slideMasters/slideMaster1.xml><?xml version="1.0" encoding="utf-8"?>
<p:sldMaster xmlns:r="http://schemas.openxmlformats.org/officeDocument/2006/relationships" xmlns:p="http://schemas.openxmlformats.org/presentationml/2006/main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</p:sldLayoutIdLst>
  <p:hf sldNum="0" hdr="0" ftr="0" dt="0"/>
  <p:txStyles>
    <p:titleStyle>
      <a:lvl1pPr algn="ctr" defTabSz="9144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image" Target="media/image1.png" /><Relationship Id="rId0" Type="http://schemas.openxmlformats.org/officeDocument/2006/relationships/slideLayout" Target="../slideLayouts/slideLayout1.xml" /></Relationships>
</file>

<file path=ppt/slides/_rels/slide2.xml.rels><?xml version="1.0" encoding="UTF-8" standalone="yes"?><Relationships xmlns="http://schemas.openxmlformats.org/package/2006/relationships"><Relationship Id="rId3" Type="http://schemas.openxmlformats.org/officeDocument/2006/relationships/image" Target="media/image4.svg" /><Relationship Id="rId2" Type="http://schemas.openxmlformats.org/officeDocument/2006/relationships/image" Target="media/image3.svg" /><Relationship Id="rId1" Type="http://schemas.openxmlformats.org/officeDocument/2006/relationships/image" Target="media/image2.svg" /><Relationship Id="rId0" Type="http://schemas.openxmlformats.org/officeDocument/2006/relationships/slideLayout" Target="../slideLayouts/slideLayout1.xml" 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image" Target="media/image5.svg" /><Relationship Id="rId0" Type="http://schemas.openxmlformats.org/officeDocument/2006/relationships/slideLayout" Target="../slideLayouts/slideLayout1.xml" /></Relationships>
</file>

<file path=ppt/slides/_rels/slide4.xml.rels><?xml version="1.0" encoding="UTF-8" standalone="yes"?><Relationships xmlns="http://schemas.openxmlformats.org/package/2006/relationships"><Relationship Id="rId2" Type="http://schemas.openxmlformats.org/officeDocument/2006/relationships/image" Target="media/image2.svg" /><Relationship Id="rId1" Type="http://schemas.openxmlformats.org/officeDocument/2006/relationships/image" Target="media/image6.png" /><Relationship Id="rId0" Type="http://schemas.openxmlformats.org/officeDocument/2006/relationships/slideLayout" Target="../slideLayouts/slideLayout1.xml" /></Relationships>
</file>

<file path=ppt/slides/_rels/slide5.xml.rels><?xml version="1.0" encoding="UTF-8" standalone="yes"?><Relationships xmlns="http://schemas.openxmlformats.org/package/2006/relationships"><Relationship Id="rId3" Type="http://schemas.openxmlformats.org/officeDocument/2006/relationships/image" Target="media/image8.svg" /><Relationship Id="rId2" Type="http://schemas.openxmlformats.org/officeDocument/2006/relationships/image" Target="media/image3.svg" /><Relationship Id="rId4" Type="http://schemas.openxmlformats.org/officeDocument/2006/relationships/image" Target="media/image9.svg" /><Relationship Id="rId1" Type="http://schemas.openxmlformats.org/officeDocument/2006/relationships/image" Target="media/image7.png" /><Relationship Id="rId0" Type="http://schemas.openxmlformats.org/officeDocument/2006/relationships/slideLayout" Target="../slideLayouts/slideLayout1.xml" /></Relationships>
</file>

<file path=ppt/slides/_rels/slide6.xml.rels><?xml version="1.0" encoding="UTF-8" standalone="yes"?><Relationships xmlns="http://schemas.openxmlformats.org/package/2006/relationships"><Relationship Id="rId5" Type="http://schemas.openxmlformats.org/officeDocument/2006/relationships/image" Target="media/image14.svg" /><Relationship Id="rId4" Type="http://schemas.openxmlformats.org/officeDocument/2006/relationships/image" Target="media/image13.svg" /><Relationship Id="rId3" Type="http://schemas.openxmlformats.org/officeDocument/2006/relationships/image" Target="media/image12.svg" /><Relationship Id="rId0" Type="http://schemas.openxmlformats.org/officeDocument/2006/relationships/slideLayout" Target="../slideLayouts/slideLayout1.xml" /><Relationship Id="rId2" Type="http://schemas.openxmlformats.org/officeDocument/2006/relationships/image" Target="media/image11.svg" /><Relationship Id="rId1" Type="http://schemas.openxmlformats.org/officeDocument/2006/relationships/image" Target="media/image10.png" /></Relationships>
</file>

<file path=ppt/slides/_rels/slide7.xml.rels><?xml version="1.0" encoding="UTF-8" standalone="yes"?><Relationships xmlns="http://schemas.openxmlformats.org/package/2006/relationships"><Relationship Id="rId2" Type="http://schemas.openxmlformats.org/officeDocument/2006/relationships/image" Target="media/image16.svg" /><Relationship Id="rId3" Type="http://schemas.openxmlformats.org/officeDocument/2006/relationships/image" Target="media/image11.svg" /><Relationship Id="rId1" Type="http://schemas.openxmlformats.org/officeDocument/2006/relationships/image" Target="media/image15.png" /><Relationship Id="rId0" Type="http://schemas.openxmlformats.org/officeDocument/2006/relationships/slideLayout" Target="../slideLayouts/slideLayout1.xml" /></Relationships>
</file>

<file path=ppt/slides/slide1.xml><?xml version="1.0" encoding="utf-8"?>
<p:sld xmlns:r="http://schemas.openxmlformats.org/officeDocument/2006/relationships" xmlns:p="http://schemas.openxmlformats.org/presentationml/2006/main" xmlns:a="http://schemas.openxmlformats.org/drawingml/2006/main">
  <p:cSld>
    <p:spTree>
      <p:nvGrpSpPr>
        <p:cNvPr id="1" name="" descr="&lt;Slide&gt;&#10;  {/* Full-bleed hero image */}&#10;  &lt;Image&#10;    src=&quot;assets/hero_cover.png&quot;&#10;    style={{&#10;      position: 'absolute',&#10;      top: 0,&#10;      left: 0,&#10;      width: '100%',&#10;      height: '100%',&#10;      objectFit: 'cover',&#10;    }}&#10;  /&gt;&#10;&#10;  {/* Dark overlay for text readability */}&#10;  &lt;Box&#10;    style={{&#10;      position: 'absolute',&#10;      top: 0,&#10;      left: 0,&#10;      width: '100%',&#10;      height: '100%',&#10;      background: 'linear-gradient(135deg, rgba(15,23,42,0.7) 0%, rgba(59,130,246,0.5) 100%)',&#10;    }}&#10;  /&gt;&#10;&#10;  {/* Title overlay positioned on the left side */}&#10;  &lt;Box&#10;    style={{&#10;      position: 'absolute',&#10;      top: 0,&#10;      left: 0,&#10;      width: '100%',&#10;      height: '100%',&#10;      padding: 80,&#10;      flexDirection: 'column',&#10;      justifyContent: 'center',&#10;      alignItems: 'flex-start',&#10;    }}&#10;  &gt;&#10;    {/* Eyebrow tag */}&#10;    &lt;Box&#10;      style={{&#10;        background: 'rgba(249,115,22,0.9)',&#10;        padding: '8px 20px',&#10;        borderRadius: 24,&#10;        marginBottom: 28,&#10;      }}&#10;    &gt;&#10;      &lt;Text style={{ color: '#FFFFFF', fontSize: 16, fontWeight: 600, letterSpacing: 2 }}&gt;&#10;        AI-POWERED EDUCATION&#10;      &lt;/Text&gt;&#10;    &lt;/Box&gt;&#10;&#10;    {/* Main title */}&#10;    &lt;Text&#10;      style={{&#10;        fontSize: 72,&#10;        fontWeight: 'bold',&#10;        color: '#FFFFFF',&#10;        lineHeight: 1.1,&#10;        marginBottom: 24,&#10;        maxWidth: 900,&#10;      }}&#10;    &gt;&#10;      WorkBuddy AI&#10;    &lt;/Text&gt;&#10;&#10;    &lt;Text&#10;      style={{&#10;        fontSize: 38,&#10;        fontWeight: 600,&#10;        color: '#FFFFFF',&#10;        lineHeight: 1.3,&#10;        marginBottom: 32,&#10;        maxWidth: 880,&#10;      }}&#10;    &gt;&#10;      Your AI-Powered Study Companion&#10;    &lt;/Text&gt;&#10;&#10;    {/* Subtitle */}&#10;    &lt;Text&#10;      style={{&#10;        fontSize: 24,&#10;        color: 'rgba(255,255,255,0.9)',&#10;        lineHeight: 1.5,&#10;        maxWidth: 760,&#10;      }}&#10;    &gt;&#10;      From Slides to Exams — One AI Agent Does It All&#10;    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"/>
          <p:cNvPicPr>
            <a:picLocks noChangeAspect="1"/>
          </p:cNvPicPr>
          <p:nvPr/>
        </p:nvPicPr>
        <p:blipFill>
          <a:blip r:embed="rId1"/>
          <a:srcRect l="0" t="7812" r="0" b="7812"/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  <p:sp>
        <p:nvSpPr>
          <p:cNvPr id="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F172A">
                  <a:alpha val="70000"/>
                </a:srgbClr>
              </a:gs>
              <a:gs pos="100000">
                <a:srgbClr val="3B82F6">
                  <a:alpha val="50000"/>
                </a:srgbClr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4" name=""/>
          <p:cNvSpPr/>
          <p:nvPr/>
        </p:nvSpPr>
        <p:spPr>
          <a:xfrm rot="0" flipH="0" flipV="0">
            <a:off x="762000" y="1905000"/>
            <a:ext cx="2705100" cy="342900"/>
          </a:xfrm>
          <a:prstGeom prst="roundRect">
            <a:avLst>
              <a:gd name="adj" fmla="val 66667"/>
            </a:avLst>
          </a:prstGeom>
          <a:solidFill>
            <a:srgbClr val="F97316">
              <a:alpha val="90000"/>
            </a:srgbClr>
          </a:solidFill>
          <a:ln/>
        </p:spPr>
        <p:txBody>
          <a:bodyPr/>
          <a:p/>
        </p:txBody>
      </p:sp>
      <p:sp>
        <p:nvSpPr>
          <p:cNvPr id="5" name="" descr="{&quot;isTemplate&quot;:true,&quot;type&quot;:&quot;text&quot;}"/>
          <p:cNvSpPr txBox="1"/>
          <p:nvPr/>
        </p:nvSpPr>
        <p:spPr>
          <a:xfrm rot="0" flipH="0" flipV="0">
            <a:off x="952500" y="1981200"/>
            <a:ext cx="23241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 spc="150">
                <a:solidFill>
                  <a:srgbClr val="FFFFFF"/>
                </a:solidFill>
                <a:latin typeface="Microsoft YaHei"/>
                <a:ea typeface="Microsoft YaHei"/>
              </a:rPr>
              <a:t>AI-POWERED EDUCATION</a:t>
            </a:r>
            <a:endParaRPr/>
          </a:p>
        </p:txBody>
      </p:sp>
      <p:sp>
        <p:nvSpPr>
          <p:cNvPr id="6" name="" descr="{&quot;isTemplate&quot;:true,&quot;type&quot;:&quot;text&quot;}"/>
          <p:cNvSpPr txBox="1"/>
          <p:nvPr/>
        </p:nvSpPr>
        <p:spPr>
          <a:xfrm rot="0" flipH="0" flipV="0">
            <a:off x="762000" y="2514600"/>
            <a:ext cx="4714875" cy="914400"/>
          </a:xfrm>
          <a:prstGeom prst="rect"/>
        </p:spPr>
        <p:txBody>
          <a:bodyPr wrap="none" lIns="0" tIns="0" rIns="0" bIns="0"/>
          <a:p>
            <a:pPr>
              <a:lnSpc>
                <a:spcPct val="110000"/>
              </a:lnSpc>
            </a:pPr>
            <a:r>
              <a:rPr lang="en-US" sz="5400" b="1">
                <a:solidFill>
                  <a:srgbClr val="FFFFFF"/>
                </a:solidFill>
                <a:latin typeface="Microsoft YaHei"/>
                <a:ea typeface="Microsoft YaHei"/>
              </a:rPr>
              <a:t>WorkBuddy AI</a:t>
            </a:r>
            <a:endParaRPr/>
          </a:p>
        </p:txBody>
      </p:sp>
      <p:sp>
        <p:nvSpPr>
          <p:cNvPr id="7" name="" descr="{&quot;isTemplate&quot;:true,&quot;type&quot;:&quot;text&quot;}"/>
          <p:cNvSpPr txBox="1"/>
          <p:nvPr/>
        </p:nvSpPr>
        <p:spPr>
          <a:xfrm rot="0" flipH="0" flipV="0">
            <a:off x="762000" y="3657600"/>
            <a:ext cx="6086475" cy="57150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2850" b="1">
                <a:solidFill>
                  <a:srgbClr val="FFFFFF"/>
                </a:solidFill>
                <a:latin typeface="Microsoft YaHei"/>
                <a:ea typeface="Microsoft YaHei"/>
              </a:rPr>
              <a:t>Your AI-Powered Study Companion</a:t>
            </a:r>
            <a:endParaRPr/>
          </a:p>
        </p:txBody>
      </p:sp>
      <p:sp>
        <p:nvSpPr>
          <p:cNvPr id="8" name="" descr="{&quot;isTemplate&quot;:true,&quot;type&quot;:&quot;text&quot;}"/>
          <p:cNvSpPr txBox="1"/>
          <p:nvPr/>
        </p:nvSpPr>
        <p:spPr>
          <a:xfrm rot="0" flipH="0" flipV="0">
            <a:off x="762000" y="4533900"/>
            <a:ext cx="5076825" cy="4191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800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>From Slides to Exams — One AI Agent Does It All</a:t>
            </a:r>
            <a:endParaRPr/>
          </a:p>
        </p:txBody>
      </p:sp>
    </p:spTree>
  </p:cSld>
</p:sld>
</file>

<file path=ppt/slides/slide2.xml><?xml version="1.0" encoding="utf-8"?>
<p:sld xmlns:asvg="http://schemas.microsoft.com/office/drawing/2016/SVG/main" xmlns:r="http://schemas.openxmlformats.org/officeDocument/2006/relationships" xmlns:p="http://schemas.openxmlformats.org/presentationml/2006/main" xmlns:a="http://schemas.openxmlformats.org/drawingml/2006/main" xmlns:mc="http://schemas.openxmlformats.org/markup-compatibility/2006" mc:Ignorable="asvg">
  <p:cSld>
    <p:spTree>
      <p:nvGrpSpPr>
        <p:cNvPr id="9" name="" descr="&lt;Slide&gt;&#10;  {/* Background */}&#10;  &lt;Box style={{ position: 'absolute', top: 0, left: 0, width: '100%', height: '100%', background: '#FFFFFF' }} /&gt;&#10;&#10;  {/* Decorative left color bar */}&#10;  &lt;Box&#10;    style={{&#10;      position: 'absolute',&#10;      top: 0,&#10;      left: 0,&#10;      width: 6,&#10;      height: '100%',&#10;      background: 'linear-gradient(180deg, #3B82F6 0%, #8B5CF6 100%)',&#10;    }}&#10;  /&gt;&#10;&#10;  {/* Content container */}&#10;  &lt;Box&#10;    style={{&#10;      position: 'absolute',&#10;      top: 20,&#10;      left: 80,&#10;      right: 80,&#10;      height: 660,&#10;      flexDirection: 'row',&#10;      gap: 40,&#10;    }}&#10;  &gt;&#10;    {/* Left side: Title block (30% width) */}&#10;    &lt;Box&#10;      style={{&#10;        width: 360,&#10;        flexDirection: 'column',&#10;        justifyContent: 'flex-start',&#10;        paddingTop: 40,&#10;      }}&#10;    &gt;&#10;      {/* Eyebrow */}&#10;      &lt;Text&#10;        style={{&#10;          fontSize: 16,&#10;          fontWeight: 600,&#10;          color: '#F97316',&#10;          letterSpacing: 3,&#10;          marginBottom: 20,&#10;        }}&#10;      &gt;&#10;        THE PROBLEM&#10;      &lt;/Text&gt;&#10;&#10;      {/* Main title */}&#10;      &lt;Text&#10;        style={{&#10;          fontSize: 42,&#10;          fontWeight: 'bold',&#10;          color: '#1A1A1A',&#10;          lineHeight: 1.2,&#10;          marginBottom: 24,&#10;        }}&#10;      &gt;&#10;        Students Face&lt;br /&gt;&#10;        &lt;span style={{ color: '#3B82F6' }}&gt;Three Persistent&lt;/span&gt;&lt;br /&gt;&#10;        Challenges&#10;      &lt;/Text&gt;&#10;&#10;      {/* Lead paragraph */}&#10;      &lt;Text&#10;        style={{&#10;          fontSize: 18,&#10;          color: '#64748B',&#10;          lineHeight: 1.6,&#10;        }}&#10;      &gt;&#10;        Modern students juggle multiple high-stakes tasks every week, but the tools they have are scattered, manual, and stressful.&#10;      &lt;/Text&gt;&#10;    &lt;/Box&gt;&#10;&#10;    {/* Right side: 3 problem cards (vertical stack) */}&#10;    &lt;Box&#10;      style={{&#10;        flex: 1,&#10;        flexDirection: 'column',&#10;        gap: 20,&#10;        paddingTop: 20,&#10;      }}&#10;    &gt;&#10;      {/* Card 1: Slide creation pain */}&#10;      &lt;Box&#10;        style={{&#10;          background: '#F8FAFC',&#10;          borderRadius: 16,&#10;          padding: 24,&#10;          borderLeft: '4px solid #3B82F6',&#10;          flexDirection: 'row',&#10;          alignItems: 'center',&#10;          gap: 20,&#10;        }}&#10;      &gt;&#10;        &lt;Box&#10;          style={{&#10;            width: 56,&#10;            height: 56,&#10;            borderRadius: 14,&#10;            background: 'rgba(59,130,246,0.12)',&#10;            justifyContent: 'center',&#10;            alignItems: 'center',&#10;          }}&#10;        &gt;&#10;          &lt;FAIcon name='file-powerpoint' style={{ fill: '#3B82F6', width: 28, height: 28 }} /&gt;&#10;        &lt;/Box&gt;&#10;        &lt;Box style={{ flex: 1 }}&gt;&#10;          &lt;Text style={{ fontSize: 20, fontWeight: 'bold', color: '#1A1A1A', marginBottom: 6 }}&gt;&#10;            Hours Lost on Slide Design&#10;          &lt;/Text&gt;&#10;          &lt;Text style={{ fontSize: 16, color: '#64748B', lineHeight: 1.5 }}&gt;&#10;            Students spend &lt;span style={{ color: '#F97316', fontWeight: 'bold' }}&gt;4+ hours&lt;/span&gt; per presentation wrestling with formatting and layout — time that should go to content and ideas.&#10;          &lt;/Text&gt;&#10;        &lt;/Box&gt;&#10;      &lt;/Box&gt;&#10;&#10;      {/* Card 2: Assignment guidance pain */}&#10;      &lt;Box&#10;        style={{&#10;          background: '#F8FAFC',&#10;          borderRadius: 16,&#10;          padding: 24,&#10;          borderLeft: '4px solid #8B5CF6',&#10;          flexDirection: 'row',&#10;          alignItems: 'center',&#10;          gap: 20,&#10;        }}&#10;      &gt;&#10;        &lt;Box&#10;          style={{&#10;            width: 56,&#10;            height: 56,&#10;            borderRadius: 14,&#10;            background: 'rgba(139,92,246,0.12)',&#10;            justifyContent: 'center',&#10;            alignItems: 'center',&#10;          }}&#10;        &gt;&#10;          &lt;FAIcon name='book-open' style={{ fill: '#8B5CF6', width: 28, height: 28 }} /&gt;&#10;        &lt;/Box&gt;&#10;        &lt;Box style={{ flex: 1 }}&gt;&#10;          &lt;Text style={{ fontSize: 20, fontWeight: 'bold', color: '#1A1A1A', marginBottom: 6 }}&gt;&#10;            Stuck on Assignments, No Coach&#10;          &lt;/Text&gt;&#10;          &lt;Text style={{ fontSize: 16, color: '#64748B', lineHeight: 1.5 }}&gt;&#10;            &lt;span style={{ color: '#F97316', fontWeight: 'bold' }}&gt;68%&lt;/span&gt; of students report assignment anxiety — without personalized guidance, they procrastinate and miss learning moments.&#10;          &lt;/Text&gt;&#10;        &lt;/Box&gt;&#10;      &lt;/Box&gt;&#10;&#10;      {/* Card 3: Exam prep pain */}&#10;      &lt;Box&#10;        style={{&#10;          background: '#F8FAFC',&#10;          borderRadius: 16,&#10;          padding: 24,&#10;          borderLeft: '4px solid #F97316',&#10;          flexDirection: 'row',&#10;          alignItems: 'center',&#10;          gap: 20,&#10;        }}&#10;      &gt;&#10;        &lt;Box&#10;          style={{&#10;            width: 56,&#10;            height: 56,&#10;            borderRadius: 14,&#10;            background: 'rgba(249,115,22,0.12)',&#10;            justifyContent: 'center',&#10;            alignItems: 'center',&#10;          }}&#10;        &gt;&#10;          &lt;FAIcon name='graduation-cap' style={{ fill: '#F97316', width: 28, height: 28 }} /&gt;&#10;        &lt;/Box&gt;&#10;        &lt;Box style={{ flex: 1 }}&gt;&#10;          &lt;Text style={{ fontSize: 20, fontWeight: 'bold', color: '#1A1A1A', marginBottom: 6 }}&gt;&#10;            Scattered Exam Prep&#10;          &lt;/Text&gt;&#10;          &lt;Text style={{ fontSize: 16, color: '#64748B', lineHeight: 1.5 }}&gt;&#10;            &lt;span style={{ color: '#F97316', fontWeight: 'bold' }}&gt;73%&lt;/span&gt; lack a structured study plan, jumping between notes, textbooks, and apps without a clear path to mastery.&#10;          &lt;/Text&gt;&#10;        &lt;/Box&gt;&#10;      &lt;/Box&gt;&#10;    &lt;/Box&gt;&#10;  &lt;/Box&gt;&#10;&#10;  {/* Footer */}&#10;  &lt;Box&#10;    style={{&#10;      position: 'absolute',&#10;      bottom: 20,&#10;      left: 80,&#10;      right: 80,&#10;      flexDirection: 'row',&#10;      justifyContent: 'space-between',&#10;      alignItems: 'center',&#10;    }}&#10;  &gt;&#10;    &lt;Text style={{ fontSize: 14, color: '#94A3B8' }}&gt;WorkBuddy AI · Student Pitch&lt;/Text&gt;&#10;    &lt;Text style={{ fontSize: 14, color: '#94A3B8' }}&gt;02 / 07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1" name=""/>
          <p:cNvSpPr/>
          <p:nvPr/>
        </p:nvSpPr>
        <p:spPr>
          <a:xfrm rot="0" flipH="0" flipV="0">
            <a:off x="0" y="0"/>
            <a:ext cx="57150" cy="6858000"/>
          </a:xfrm>
          <a:prstGeom prst="rect">
            <a:avLst/>
          </a:prstGeom>
          <a:gradFill>
            <a:gsLst>
              <a:gs pos="0">
                <a:srgbClr val="3B82F6"/>
              </a:gs>
              <a:gs pos="100000">
                <a:srgbClr val="8B5CF6"/>
              </a:gs>
            </a:gsLst>
            <a:lin ang="5400000" scaled="1"/>
          </a:gradFill>
          <a:ln/>
        </p:spPr>
        <p:txBody>
          <a:bodyPr/>
          <a:p/>
        </p:txBody>
      </p:sp>
      <p:sp>
        <p:nvSpPr>
          <p:cNvPr id="12" name="" descr="{&quot;isTemplate&quot;:true,&quot;type&quot;:&quot;text&quot;}"/>
          <p:cNvSpPr txBox="1"/>
          <p:nvPr/>
        </p:nvSpPr>
        <p:spPr>
          <a:xfrm rot="0" flipH="0" flipV="0">
            <a:off x="762000" y="571500"/>
            <a:ext cx="3429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 spc="225">
                <a:solidFill>
                  <a:srgbClr val="F97316"/>
                </a:solidFill>
                <a:latin typeface="Microsoft YaHei"/>
                <a:ea typeface="Microsoft YaHei"/>
              </a:rPr>
              <a:t>THE PROBLEM</a:t>
            </a:r>
            <a:endParaRPr/>
          </a:p>
        </p:txBody>
      </p:sp>
      <p:sp>
        <p:nvSpPr>
          <p:cNvPr id="13" name="" descr="{&quot;isTemplate&quot;:true,&quot;type&quot;:&quot;text&quot;}"/>
          <p:cNvSpPr txBox="1"/>
          <p:nvPr/>
        </p:nvSpPr>
        <p:spPr>
          <a:xfrm rot="0" flipH="0" flipV="0">
            <a:off x="762000" y="952500"/>
            <a:ext cx="3429000" cy="1733550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en-US" sz="3150" b="1">
                <a:solidFill>
                  <a:srgbClr val="1A1A1A"/>
                </a:solidFill>
                <a:latin typeface="Microsoft YaHei"/>
                <a:ea typeface="Microsoft YaHei"/>
              </a:rPr>
              <a:t>Students Face</a:t>
            </a:r>
            <a:endParaRPr/>
          </a:p>
          <a:p>
            <a:pPr>
              <a:lnSpc>
                <a:spcPct val="120000"/>
              </a:lnSpc>
            </a:pPr>
            <a:r>
              <a:rPr lang="en-US" sz="3150" b="1">
                <a:solidFill>
                  <a:srgbClr val="3B82F6"/>
                </a:solidFill>
                <a:latin typeface="Microsoft YaHei"/>
                <a:ea typeface="Microsoft YaHei"/>
              </a:rPr>
              <a:t>Three Persistent</a:t>
            </a:r>
            <a:endParaRPr/>
          </a:p>
          <a:p>
            <a:pPr>
              <a:lnSpc>
                <a:spcPct val="120000"/>
              </a:lnSpc>
            </a:pPr>
            <a:r>
              <a:rPr lang="en-US" sz="3150" b="1">
                <a:solidFill>
                  <a:srgbClr val="1A1A1A"/>
                </a:solidFill>
                <a:latin typeface="Microsoft YaHei"/>
                <a:ea typeface="Microsoft YaHei"/>
              </a:rPr>
              <a:t>Challenges</a:t>
            </a:r>
            <a:endParaRPr/>
          </a:p>
        </p:txBody>
      </p:sp>
      <p:sp>
        <p:nvSpPr>
          <p:cNvPr id="14" name="" descr="{&quot;isTemplate&quot;:true,&quot;type&quot;:&quot;text&quot;}"/>
          <p:cNvSpPr txBox="1"/>
          <p:nvPr/>
        </p:nvSpPr>
        <p:spPr>
          <a:xfrm rot="0" flipH="0" flipV="0">
            <a:off x="762000" y="2914650"/>
            <a:ext cx="3429000" cy="9906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en-US" sz="1350">
                <a:solidFill>
                  <a:srgbClr val="64748B"/>
                </a:solidFill>
                <a:latin typeface="Microsoft YaHei"/>
                <a:ea typeface="Microsoft YaHei"/>
              </a:rPr>
              <a:t>Modern students juggle multiple high-stakes tasks every week, but the tools they have are scattered, manual, and stressful.</a:t>
            </a:r>
            <a:endParaRPr/>
          </a:p>
        </p:txBody>
      </p:sp>
      <p:sp>
        <p:nvSpPr>
          <p:cNvPr id="15" name=""/>
          <p:cNvSpPr/>
          <p:nvPr/>
        </p:nvSpPr>
        <p:spPr>
          <a:xfrm rot="0" flipH="0" flipV="0">
            <a:off x="4610100" y="381000"/>
            <a:ext cx="6858000" cy="1295400"/>
          </a:xfrm>
          <a:prstGeom prst="roundRect">
            <a:avLst>
              <a:gd name="adj" fmla="val 11765"/>
            </a:avLst>
          </a:prstGeom>
          <a:solidFill>
            <a:srgbClr val="F8FAFC"/>
          </a:solidFill>
          <a:ln/>
        </p:spPr>
        <p:txBody>
          <a:bodyPr/>
          <a:p/>
        </p:txBody>
      </p:sp>
      <p:sp>
        <p:nvSpPr>
          <p:cNvPr id="16" name=""/>
          <p:cNvSpPr/>
          <p:nvPr/>
        </p:nvSpPr>
        <p:spPr>
          <a:xfrm rot="0" flipH="0" flipV="0">
            <a:off x="4610100" y="381000"/>
            <a:ext cx="6858000" cy="1295400"/>
          </a:xfrm>
          <a:custGeom>
            <a:pathLst>
              <a:path w="720" h="136">
                <a:moveTo>
                  <a:pt x="15" y="0"/>
                </a:moveTo>
                <a:cubicBezTo>
                  <a:pt x="9" y="1"/>
                  <a:pt x="4" y="6"/>
                  <a:pt x="4" y="12"/>
                </a:cubicBezTo>
                <a:lnTo>
                  <a:pt x="4" y="124"/>
                </a:lnTo>
                <a:cubicBezTo>
                  <a:pt x="4" y="129"/>
                  <a:pt x="8" y="134"/>
                  <a:pt x="13" y="136"/>
                </a:cubicBezTo>
                <a:cubicBezTo>
                  <a:pt x="5" y="134"/>
                  <a:pt x="0" y="128"/>
                  <a:pt x="0" y="120"/>
                </a:cubicBezTo>
                <a:lnTo>
                  <a:pt x="0" y="16"/>
                </a:lnTo>
                <a:cubicBezTo>
                  <a:pt x="0" y="7"/>
                  <a:pt x="7" y="0"/>
                  <a:pt x="15" y="0"/>
                </a:cubicBezTo>
                <a:close/>
              </a:path>
            </a:pathLst>
          </a:custGeom>
          <a:solidFill>
            <a:srgbClr val="3B82F6"/>
          </a:solidFill>
          <a:ln/>
        </p:spPr>
        <p:txBody>
          <a:bodyPr/>
          <a:p/>
        </p:txBody>
      </p:sp>
      <p:sp>
        <p:nvSpPr>
          <p:cNvPr id="17" name=""/>
          <p:cNvSpPr/>
          <p:nvPr/>
        </p:nvSpPr>
        <p:spPr>
          <a:xfrm rot="0" flipH="0" flipV="0">
            <a:off x="4838700" y="762000"/>
            <a:ext cx="533400" cy="533400"/>
          </a:xfrm>
          <a:prstGeom prst="roundRect">
            <a:avLst>
              <a:gd name="adj" fmla="val 25000"/>
            </a:avLst>
          </a:prstGeom>
          <a:solidFill>
            <a:srgbClr val="3B82F6">
              <a:alpha val="12000"/>
            </a:srgbClr>
          </a:solidFill>
          <a:ln/>
        </p:spPr>
        <p:txBody>
          <a:bodyPr/>
          <a:p/>
        </p:txBody>
      </p:sp>
      <p:pic>
        <p:nvPicPr>
          <p:cNvPr id="18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4972050" y="895350"/>
            <a:ext cx="266700" cy="266700"/>
          </a:xfrm>
          <a:prstGeom prst="rect">
            <a:avLst/>
          </a:prstGeom>
          <a:ln/>
        </p:spPr>
      </p:pic>
      <p:sp>
        <p:nvSpPr>
          <p:cNvPr id="19" name="" descr="{&quot;isTemplate&quot;:true,&quot;type&quot;:&quot;text&quot;}"/>
          <p:cNvSpPr txBox="1"/>
          <p:nvPr/>
        </p:nvSpPr>
        <p:spPr>
          <a:xfrm rot="0" flipH="0" flipV="0">
            <a:off x="5562600" y="609600"/>
            <a:ext cx="5638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1A1A1A"/>
                </a:solidFill>
                <a:latin typeface="Microsoft YaHei"/>
                <a:ea typeface="Microsoft YaHei"/>
              </a:rPr>
              <a:t>Hours Lost on Slide Design</a:t>
            </a:r>
            <a:endParaRPr/>
          </a:p>
        </p:txBody>
      </p:sp>
      <p:sp>
        <p:nvSpPr>
          <p:cNvPr id="20" name="" descr="{&quot;isTemplate&quot;:true,&quot;type&quot;:&quot;text&quot;}"/>
          <p:cNvSpPr txBox="1"/>
          <p:nvPr/>
        </p:nvSpPr>
        <p:spPr>
          <a:xfrm rot="0" flipH="0" flipV="0">
            <a:off x="5562600" y="895350"/>
            <a:ext cx="563880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1200">
                <a:solidFill>
                  <a:srgbClr val="64748B"/>
                </a:solidFill>
                <a:latin typeface="Microsoft YaHei"/>
                <a:ea typeface="Microsoft YaHei"/>
              </a:rPr>
              <a:t xml:space="preserve">Students spend </a:t>
            </a:r>
            <a:r>
              <a:rPr lang="en-US" sz="1200" b="1">
                <a:solidFill>
                  <a:srgbClr val="F97316"/>
                </a:solidFill>
                <a:latin typeface="Microsoft YaHei"/>
                <a:ea typeface="Microsoft YaHei"/>
              </a:rPr>
              <a:t>4+ hours</a:t>
            </a:r>
            <a:r>
              <a:rPr lang="en-US" sz="1200">
                <a:solidFill>
                  <a:srgbClr val="64748B"/>
                </a:solidFill>
                <a:latin typeface="Microsoft YaHei"/>
                <a:ea typeface="Microsoft YaHei"/>
              </a:rPr>
              <a:t xml:space="preserve"> per presentation wrestling with formatting and layout — time that should go to content and ideas.</a:t>
            </a:r>
            <a:endParaRPr/>
          </a:p>
        </p:txBody>
      </p:sp>
      <p:sp>
        <p:nvSpPr>
          <p:cNvPr id="21" name=""/>
          <p:cNvSpPr/>
          <p:nvPr/>
        </p:nvSpPr>
        <p:spPr>
          <a:xfrm rot="0" flipH="0" flipV="0">
            <a:off x="4610100" y="1866900"/>
            <a:ext cx="6858000" cy="1295400"/>
          </a:xfrm>
          <a:prstGeom prst="roundRect">
            <a:avLst>
              <a:gd name="adj" fmla="val 11765"/>
            </a:avLst>
          </a:prstGeom>
          <a:solidFill>
            <a:srgbClr val="F8FAFC"/>
          </a:solidFill>
          <a:ln/>
        </p:spPr>
        <p:txBody>
          <a:bodyPr/>
          <a:p/>
        </p:txBody>
      </p:sp>
      <p:sp>
        <p:nvSpPr>
          <p:cNvPr id="22" name=""/>
          <p:cNvSpPr/>
          <p:nvPr/>
        </p:nvSpPr>
        <p:spPr>
          <a:xfrm rot="0" flipH="0" flipV="0">
            <a:off x="4610100" y="1866900"/>
            <a:ext cx="6858000" cy="1295400"/>
          </a:xfrm>
          <a:custGeom>
            <a:pathLst>
              <a:path w="720" h="136">
                <a:moveTo>
                  <a:pt x="15" y="0"/>
                </a:moveTo>
                <a:cubicBezTo>
                  <a:pt x="9" y="1"/>
                  <a:pt x="4" y="6"/>
                  <a:pt x="4" y="12"/>
                </a:cubicBezTo>
                <a:lnTo>
                  <a:pt x="4" y="124"/>
                </a:lnTo>
                <a:cubicBezTo>
                  <a:pt x="4" y="129"/>
                  <a:pt x="8" y="134"/>
                  <a:pt x="13" y="136"/>
                </a:cubicBezTo>
                <a:cubicBezTo>
                  <a:pt x="5" y="134"/>
                  <a:pt x="0" y="128"/>
                  <a:pt x="0" y="120"/>
                </a:cubicBezTo>
                <a:lnTo>
                  <a:pt x="0" y="16"/>
                </a:lnTo>
                <a:cubicBezTo>
                  <a:pt x="0" y="7"/>
                  <a:pt x="7" y="0"/>
                  <a:pt x="15" y="0"/>
                </a:cubicBezTo>
                <a:close/>
              </a:path>
            </a:pathLst>
          </a:custGeom>
          <a:solidFill>
            <a:srgbClr val="8B5CF6"/>
          </a:solidFill>
          <a:ln/>
        </p:spPr>
        <p:txBody>
          <a:bodyPr/>
          <a:p/>
        </p:txBody>
      </p:sp>
      <p:sp>
        <p:nvSpPr>
          <p:cNvPr id="23" name=""/>
          <p:cNvSpPr/>
          <p:nvPr/>
        </p:nvSpPr>
        <p:spPr>
          <a:xfrm rot="0" flipH="0" flipV="0">
            <a:off x="4838700" y="2247900"/>
            <a:ext cx="533400" cy="533400"/>
          </a:xfrm>
          <a:prstGeom prst="roundRect">
            <a:avLst>
              <a:gd name="adj" fmla="val 25000"/>
            </a:avLst>
          </a:prstGeom>
          <a:solidFill>
            <a:srgbClr val="8B5CF6">
              <a:alpha val="12000"/>
            </a:srgbClr>
          </a:solidFill>
          <a:ln/>
        </p:spPr>
        <p:txBody>
          <a:bodyPr/>
          <a:p/>
        </p:txBody>
      </p:sp>
      <p:pic>
        <p:nvPicPr>
          <p:cNvPr id="24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4972050" y="2381250"/>
            <a:ext cx="266700" cy="266700"/>
          </a:xfrm>
          <a:prstGeom prst="rect">
            <a:avLst/>
          </a:prstGeom>
          <a:ln/>
        </p:spPr>
      </p:pic>
      <p:sp>
        <p:nvSpPr>
          <p:cNvPr id="25" name="" descr="{&quot;isTemplate&quot;:true,&quot;type&quot;:&quot;text&quot;}"/>
          <p:cNvSpPr txBox="1"/>
          <p:nvPr/>
        </p:nvSpPr>
        <p:spPr>
          <a:xfrm rot="0" flipH="0" flipV="0">
            <a:off x="5562600" y="2095500"/>
            <a:ext cx="5638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1A1A1A"/>
                </a:solidFill>
                <a:latin typeface="Microsoft YaHei"/>
                <a:ea typeface="Microsoft YaHei"/>
              </a:rPr>
              <a:t>Stuck on Assignments, No Coach</a:t>
            </a:r>
            <a:endParaRPr/>
          </a:p>
        </p:txBody>
      </p:sp>
      <p:sp>
        <p:nvSpPr>
          <p:cNvPr id="26" name="" descr="{&quot;isTemplate&quot;:true,&quot;type&quot;:&quot;text&quot;}"/>
          <p:cNvSpPr txBox="1"/>
          <p:nvPr/>
        </p:nvSpPr>
        <p:spPr>
          <a:xfrm rot="0" flipH="0" flipV="0">
            <a:off x="5562600" y="2381250"/>
            <a:ext cx="563880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1200" b="1">
                <a:solidFill>
                  <a:srgbClr val="F97316"/>
                </a:solidFill>
                <a:latin typeface="Microsoft YaHei"/>
                <a:ea typeface="Microsoft YaHei"/>
              </a:rPr>
              <a:t>68%</a:t>
            </a:r>
            <a:r>
              <a:rPr lang="en-US" sz="1200">
                <a:solidFill>
                  <a:srgbClr val="64748B"/>
                </a:solidFill>
                <a:latin typeface="Microsoft YaHei"/>
                <a:ea typeface="Microsoft YaHei"/>
              </a:rPr>
              <a:t xml:space="preserve"> of students report assignment anxiety — without personalized guidance, they procrastinate and miss learning moments.</a:t>
            </a:r>
            <a:endParaRPr/>
          </a:p>
        </p:txBody>
      </p:sp>
      <p:sp>
        <p:nvSpPr>
          <p:cNvPr id="27" name=""/>
          <p:cNvSpPr/>
          <p:nvPr/>
        </p:nvSpPr>
        <p:spPr>
          <a:xfrm rot="0" flipH="0" flipV="0">
            <a:off x="4610100" y="3352800"/>
            <a:ext cx="6858000" cy="1295400"/>
          </a:xfrm>
          <a:prstGeom prst="roundRect">
            <a:avLst>
              <a:gd name="adj" fmla="val 11765"/>
            </a:avLst>
          </a:prstGeom>
          <a:solidFill>
            <a:srgbClr val="F8FAFC"/>
          </a:solidFill>
          <a:ln/>
        </p:spPr>
        <p:txBody>
          <a:bodyPr/>
          <a:p/>
        </p:txBody>
      </p:sp>
      <p:sp>
        <p:nvSpPr>
          <p:cNvPr id="28" name=""/>
          <p:cNvSpPr/>
          <p:nvPr/>
        </p:nvSpPr>
        <p:spPr>
          <a:xfrm rot="0" flipH="0" flipV="0">
            <a:off x="4610100" y="3352800"/>
            <a:ext cx="6858000" cy="1295400"/>
          </a:xfrm>
          <a:custGeom>
            <a:pathLst>
              <a:path w="720" h="136">
                <a:moveTo>
                  <a:pt x="15" y="0"/>
                </a:moveTo>
                <a:cubicBezTo>
                  <a:pt x="9" y="1"/>
                  <a:pt x="4" y="6"/>
                  <a:pt x="4" y="12"/>
                </a:cubicBezTo>
                <a:lnTo>
                  <a:pt x="4" y="124"/>
                </a:lnTo>
                <a:cubicBezTo>
                  <a:pt x="4" y="129"/>
                  <a:pt x="8" y="134"/>
                  <a:pt x="13" y="136"/>
                </a:cubicBezTo>
                <a:cubicBezTo>
                  <a:pt x="5" y="134"/>
                  <a:pt x="0" y="128"/>
                  <a:pt x="0" y="120"/>
                </a:cubicBezTo>
                <a:lnTo>
                  <a:pt x="0" y="16"/>
                </a:lnTo>
                <a:cubicBezTo>
                  <a:pt x="0" y="7"/>
                  <a:pt x="7" y="0"/>
                  <a:pt x="15" y="0"/>
                </a:cubicBezTo>
                <a:close/>
              </a:path>
            </a:pathLst>
          </a:custGeom>
          <a:solidFill>
            <a:srgbClr val="F97316"/>
          </a:solidFill>
          <a:ln/>
        </p:spPr>
        <p:txBody>
          <a:bodyPr/>
          <a:p/>
        </p:txBody>
      </p:sp>
      <p:sp>
        <p:nvSpPr>
          <p:cNvPr id="29" name=""/>
          <p:cNvSpPr/>
          <p:nvPr/>
        </p:nvSpPr>
        <p:spPr>
          <a:xfrm rot="0" flipH="0" flipV="0">
            <a:off x="4838700" y="3733800"/>
            <a:ext cx="533400" cy="533400"/>
          </a:xfrm>
          <a:prstGeom prst="roundRect">
            <a:avLst>
              <a:gd name="adj" fmla="val 25000"/>
            </a:avLst>
          </a:prstGeom>
          <a:solidFill>
            <a:srgbClr val="F97316">
              <a:alpha val="12000"/>
            </a:srgbClr>
          </a:solidFill>
          <a:ln/>
        </p:spPr>
        <p:txBody>
          <a:bodyPr/>
          <a:p/>
        </p:txBody>
      </p:sp>
      <p:pic>
        <p:nvPicPr>
          <p:cNvPr id="30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4972050" y="3867150"/>
            <a:ext cx="266700" cy="266700"/>
          </a:xfrm>
          <a:prstGeom prst="rect">
            <a:avLst/>
          </a:prstGeom>
          <a:ln/>
        </p:spPr>
      </p:pic>
      <p:sp>
        <p:nvSpPr>
          <p:cNvPr id="31" name="" descr="{&quot;isTemplate&quot;:true,&quot;type&quot;:&quot;text&quot;}"/>
          <p:cNvSpPr txBox="1"/>
          <p:nvPr/>
        </p:nvSpPr>
        <p:spPr>
          <a:xfrm rot="0" flipH="0" flipV="0">
            <a:off x="5562600" y="3581400"/>
            <a:ext cx="5638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1A1A1A"/>
                </a:solidFill>
                <a:latin typeface="Microsoft YaHei"/>
                <a:ea typeface="Microsoft YaHei"/>
              </a:rPr>
              <a:t>Scattered Exam Prep</a:t>
            </a:r>
            <a:endParaRPr/>
          </a:p>
        </p:txBody>
      </p:sp>
      <p:sp>
        <p:nvSpPr>
          <p:cNvPr id="32" name="" descr="{&quot;isTemplate&quot;:true,&quot;type&quot;:&quot;text&quot;}"/>
          <p:cNvSpPr txBox="1"/>
          <p:nvPr/>
        </p:nvSpPr>
        <p:spPr>
          <a:xfrm rot="0" flipH="0" flipV="0">
            <a:off x="5562600" y="3867150"/>
            <a:ext cx="563880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1200" b="1">
                <a:solidFill>
                  <a:srgbClr val="F97316"/>
                </a:solidFill>
                <a:latin typeface="Microsoft YaHei"/>
                <a:ea typeface="Microsoft YaHei"/>
              </a:rPr>
              <a:t>73%</a:t>
            </a:r>
            <a:r>
              <a:rPr lang="en-US" sz="1200">
                <a:solidFill>
                  <a:srgbClr val="64748B"/>
                </a:solidFill>
                <a:latin typeface="Microsoft YaHei"/>
                <a:ea typeface="Microsoft YaHei"/>
              </a:rPr>
              <a:t xml:space="preserve"> lack a structured study plan, jumping between notes, textbooks, and apps without a clear path to mastery.</a:t>
            </a:r>
            <a:endParaRPr/>
          </a:p>
        </p:txBody>
      </p:sp>
      <p:sp>
        <p:nvSpPr>
          <p:cNvPr id="33" name="" descr="{&quot;isTemplate&quot;:true,&quot;type&quot;:&quot;text&quot;}"/>
          <p:cNvSpPr txBox="1"/>
          <p:nvPr/>
        </p:nvSpPr>
        <p:spPr>
          <a:xfrm rot="0" flipH="0" flipV="0">
            <a:off x="762000" y="6505575"/>
            <a:ext cx="17621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94A3B8"/>
                </a:solidFill>
                <a:latin typeface="Microsoft YaHei"/>
                <a:ea typeface="Microsoft YaHei"/>
              </a:rPr>
              <a:t>WorkBuddy AI · Student Pitch</a:t>
            </a:r>
            <a:endParaRPr/>
          </a:p>
        </p:txBody>
      </p:sp>
      <p:sp>
        <p:nvSpPr>
          <p:cNvPr id="34" name="" descr="{&quot;isTemplate&quot;:true,&quot;type&quot;:&quot;text&quot;}"/>
          <p:cNvSpPr txBox="1"/>
          <p:nvPr/>
        </p:nvSpPr>
        <p:spPr>
          <a:xfrm rot="0" flipH="0" flipV="0">
            <a:off x="11020425" y="6505575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94A3B8"/>
                </a:solidFill>
                <a:latin typeface="Microsoft YaHei"/>
                <a:ea typeface="Microsoft YaHei"/>
              </a:rPr>
              <a:t>02 / 07</a:t>
            </a:r>
            <a:endParaRPr/>
          </a:p>
        </p:txBody>
      </p:sp>
    </p:spTree>
  </p:cSld>
</p:sld>
</file>

<file path=ppt/slides/slide3.xml><?xml version="1.0" encoding="utf-8"?>
<p:sld xmlns:asvg="http://schemas.microsoft.com/office/drawing/2016/SVG/main" xmlns:r="http://schemas.openxmlformats.org/officeDocument/2006/relationships" xmlns:p="http://schemas.openxmlformats.org/presentationml/2006/main" xmlns:a="http://schemas.openxmlformats.org/drawingml/2006/main" xmlns:mc="http://schemas.openxmlformats.org/markup-compatibility/2006" mc:Ignorable="asvg">
  <p:cSld>
    <p:spTree>
      <p:nvGrpSpPr>
        <p:cNvPr id="35" name="" descr="&lt;Slide&gt;&#10;  {/* Background */}&#10;  &lt;Box style={{ position: 'absolute', top: 0, left: 0, width: '100%', height: '100%', background: '#FFFFFF' }} /&gt;&#10;&#10;  {/* Decorative gradient blob top-right */}&#10;  &lt;Box&#10;    style={{&#10;      position: 'absolute',&#10;      top: -100,&#10;      right: -100,&#10;      width: 400,&#10;      height: 400,&#10;      borderRadius: 200,&#10;      background: 'radial-gradient(circle, rgba(139,92,246,0.1) 0%, transparent 70%)',&#10;    }}&#10;  /&gt;&#10;&#10;  {/* Decorative gradient blob bottom-left */}&#10;  &lt;Box&#10;    style={{&#10;      position: 'absolute',&#10;      bottom: -100,&#10;      left: -100,&#10;      width: 400,&#10;      height: 400,&#10;      borderRadius: 200,&#10;      background: 'radial-gradient(circle, rgba(59,130,246,0.1) 0%, transparent 70%)',&#10;    }}&#10;  /&gt;&#10;&#10;  {/* Title block */}&#10;  &lt;Box&#10;    style={{&#10;      position: 'absolute',&#10;      top: 60,&#10;      left: 80,&#10;      right: 80,&#10;      alignItems: 'center',&#10;    }}&#10;  &gt;&#10;    &lt;Text&#10;      style={{&#10;        fontSize: 18,&#10;        fontWeight: 600,&#10;        color: '#F97316',&#10;        letterSpacing: 3,&#10;        marginBottom: 16,&#10;      }}&#10;    &gt;&#10;      THE SOLUTION&#10;    &lt;/Text&gt;&#10;    &lt;Text&#10;      style={{&#10;        fontSize: 44,&#10;        fontWeight: 'bold',&#10;        color: '#1A1A1A',&#10;        lineHeight: 1.2,&#10;        textAlign: 'center',&#10;      }}&#10;    &gt;&#10;      One AI Agent.&lt;br /&gt;&#10;      &lt;span style={{ color: '#3B82F6' }}&gt;Three Problems Solved.&lt;/span&gt;&#10;    &lt;/Text&gt;&#10;  &lt;/Box&gt;&#10;&#10;  {/* Convergence diagram */}&#10;  &lt;Box&#10;    style={{&#10;      position: 'absolute',&#10;      top: 280,&#10;      left: 80,&#10;      right: 80,&#10;      height: 280,&#10;      justifyContent: 'center',&#10;      alignItems: 'center',&#10;    }}&#10;  &gt;&#10;    &lt;svg width={1120} height={280} viewBox='0 0 1120 280'&gt;&#10;      {/* Three pillars on the left */}&#10;      {/* Pillar 1: Slide Generation (top) */}&#10;      &lt;g&gt;&#10;        &lt;rect x={40} y={20} width={240} height={60} rx={12} fill='#3B82F6' /&gt;&#10;        &lt;text x={160} y={50} fontFamily='Inter, sans-serif' fontSize='18' fontWeight='600' fill='#FFFFFF' textAnchor='middle'&gt;Slide Generation&lt;/text&gt;&#10;        &lt;text x={160} y={72} fontFamily='Inter, sans-serif' fontSize='13' fill='rgba(255,255,255,0.8)' textAnchor='middle'&gt;Instant polished decks&lt;/text&gt;&#10;      &lt;/g&gt;&#10;&#10;      {/* Pillar 2: Academic Advisor (middle) */}&#10;      &lt;g&gt;&#10;        &lt;rect x={40} y={110} width={240} height={60} rx={12} fill='#8B5CF6' /&gt;&#10;        &lt;text x={160} y={140} fontFamily='Inter, sans-serif' fontSize='18' fontWeight='600' fill='#FFFFFF' textAnchor='middle'&gt;Academic Advisor&lt;/text&gt;&#10;        &lt;text x={160} y={162} fontFamily='Inter, sans-serif' fontSize='13' fill='rgba(255,255,255,0.8)' textAnchor='middle'&gt;24/7 personal coach&lt;/text&gt;&#10;      &lt;/g&gt;&#10;&#10;      {/* Pillar 3: Exam Preparation (bottom) */}&#10;      &lt;g&gt;&#10;        &lt;rect x={40} y={200} width={240} height={60} rx={12} fill='#F97316' /&gt;&#10;        &lt;text x={160} y={230} fontFamily='Inter, sans-serif' fontSize='18' fontWeight='600' fill='#FFFFFF' textAnchor='middle'&gt;Exam Preparation&lt;/text&gt;&#10;        &lt;text x={160} y={252} fontFamily='Inter, sans-serif' fontSize='13' fill='rgba(255,255,255,0.8)' textAnchor='middle'&gt;Adaptive study plans&lt;/text&gt;&#10;      &lt;/g&gt;&#10;&#10;      {/* Convergence lines */}&#10;      &lt;path d='M 280 50 Q 460 50 540 130' stroke='#CBD5E1' strokeWidth={2} fill='none' strokeDasharray='4,4' /&gt;&#10;      &lt;path d='M 280 140 L 540 140' stroke='#CBD5E1' strokeWidth={2} fill='none' strokeDasharray='4,4' /&gt;&#10;      &lt;path d='M 280 230 Q 460 230 540 150' stroke='#CBD5E1' strokeWidth={2} fill='none' strokeDasharray='4,4' /&gt;&#10;&#10;      {/* Center hub: WorkBuddy AI */}&#10;      &lt;g&gt;&#10;        {/* Outer glow ring */}&#10;        &lt;circle cx={700} cy={140} r={95} fill='none' stroke='url(#hubGradient)' strokeWidth={2} opacity={0.4} /&gt;&#10;        {/* Main hub circle */}&#10;        &lt;circle cx={700} cy={140} r={75} fill='url(#hubGradient)' /&gt;&#10;        {/* Inner circle */}&#10;        &lt;circle cx={700} cy={140} r={58} fill='#FFFFFF' /&gt;&#10;        &lt;text x={700} y={130} fontFamily='Inter, sans-serif' fontSize='14' fontWeight='600' fill='#64748B' textAnchor='middle'&gt;WORKBUDDY&lt;/text&gt;&#10;        &lt;text x={700} y={155} fontFamily='Inter, sans-serif' fontSize='28' fontWeight='bold' fill='#1A1A1A' textAnchor='middle'&gt;AI Agent&lt;/text&gt;&#10;        &lt;text x={700} y={175} fontFamily='Inter, sans-serif' fontSize='12' fill='#94A3B8' textAnchor='middle'&gt;unified intelligence&lt;/text&gt;&#10;      &lt;/g&gt;&#10;&#10;      {/* Output arrows to results */}&#10;      &lt;path d='M 775 140 Q 880 140 920 90' stroke='#3B82F6' strokeWidth={3} fill='none' /&gt;&#10;      &lt;path d='M 775 140 Q 880 140 920 140' stroke='#8B5CF6' strokeWidth={3} fill='none' /&gt;&#10;      &lt;path d='M 775 140 Q 880 140 920 190' stroke='#F97316' strokeWidth={3} fill='none' /&gt;&#10;&#10;      {/* Arrow heads */}&#10;      &lt;polygon points='920,90 912,82 912,98' fill='#3B82F6' /&gt;&#10;      &lt;polygon points='920,140 912,132 912,148' fill='#8B5CF6' /&gt;&#10;      &lt;polygon points='920,190 912,182 912,198' fill='#F97316' /&gt;&#10;&#10;      {/* Output result labels */}&#10;      &lt;g&gt;&#10;        &lt;rect x={940} y={60} width={170} height={60} rx={10} fill='#F8FAFC' stroke='#3B82F6' strokeWidth={2} /&gt;&#10;        &lt;text x={1025} y={88} fontFamily='Inter, sans-serif' fontSize='14' fontWeight='600' fill='#1A1A1A' textAnchor='middle'&gt;Ready-to-present&lt;/text&gt;&#10;        &lt;text x={1025} y={106} fontFamily='Inter, sans-serif' fontSize='12' fill='#64748B' textAnchor='middle'&gt;decks in minutes&lt;/text&gt;&#10;      &lt;/g&gt;&#10;&#10;      &lt;g&gt;&#10;        &lt;rect x={940} y={130} width={170} height={60} rx={10} fill='#F8FAFC' stroke='#8B5CF6' strokeWidth={2} /&gt;&#10;        &lt;text x={1025} y={158} fontFamily='Inter, sans-serif' fontSize='14' fontWeight='600' fill='#1A1A1A' textAnchor='middle'&gt;Step-by-step&lt;/text&gt;&#10;        &lt;text x={1025} y={176} fontFamily='Inter, sans-serif' fontSize='12' fill='#64748B' textAnchor='middle'&gt;homework guidance&lt;/text&gt;&#10;      &lt;/g&gt;&#10;&#10;      &lt;g&gt;&#10;        &lt;rect x={940} y={200} width={170} height={60} rx={10} fill='#F8FAFC' stroke='#F97316' strokeWidth={2} /&gt;&#10;        &lt;text x={1025} y={228} fontFamily='Inter, sans-serif' fontSize='14' fontWeight='600' fill='#1A1A1A' textAnchor='middle'&gt;Personalized&lt;/text&gt;&#10;        &lt;text x={1025} y={246} fontFamily='Inter, sans-serif' fontSize='12' fill='#64748B' textAnchor='middle'&gt;study plans&lt;/text&gt;&#10;      &lt;/g&gt;&#10;&#10;      {/* Gradient definitions */}&#10;      &lt;defs&gt;&#10;        &lt;linearGradient id='hubGradient' x1='0%' y1='0%' x2='100%' y2='100%'&gt;&#10;          &lt;stop offset='0%' stopColor='#3B82F6' /&gt;&#10;          &lt;stop offset='100%' stopColor='#8B5CF6' /&gt;&#10;        &lt;/linearGradient&gt;&#10;      &lt;/defs&gt;&#10;    &lt;/svg&gt;&#10;  &lt;/Box&gt;&#10;&#10;  {/* Footer */}&#10;  &lt;Box&#10;    style={{&#10;      position: 'absolute',&#10;      bottom: 20,&#10;      left: 80,&#10;      right: 80,&#10;      flexDirection: 'row',&#10;      justifyContent: 'space-between',&#10;      alignItems: 'center',&#10;    }}&#10;  &gt;&#10;    &lt;Text style={{ fontSize: 14, color: '#94A3B8' }}&gt;WorkBuddy AI · Student Pitch&lt;/Text&gt;&#10;    &lt;Text style={{ fontSize: 14, color: '#94A3B8' }}&gt;03 / 07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7" name=""/>
          <p:cNvSpPr/>
          <p:nvPr/>
        </p:nvSpPr>
        <p:spPr>
          <a:xfrm rot="0" flipH="0" flipV="0">
            <a:off x="9334500" y="-952500"/>
            <a:ext cx="3810000" cy="38100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8B5CF6">
                  <a:alpha val="10000"/>
                </a:srgbClr>
              </a:gs>
              <a:gs pos="7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/>
          <a:p/>
        </p:txBody>
      </p:sp>
      <p:sp>
        <p:nvSpPr>
          <p:cNvPr id="38" name=""/>
          <p:cNvSpPr/>
          <p:nvPr/>
        </p:nvSpPr>
        <p:spPr>
          <a:xfrm rot="0" flipH="0" flipV="0">
            <a:off x="-952500" y="4000500"/>
            <a:ext cx="3810000" cy="38100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3B82F6">
                  <a:alpha val="10000"/>
                </a:srgbClr>
              </a:gs>
              <a:gs pos="7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/>
          <a:p/>
        </p:txBody>
      </p:sp>
      <p:sp>
        <p:nvSpPr>
          <p:cNvPr id="39" name="" descr="{&quot;isTemplate&quot;:true,&quot;type&quot;:&quot;text&quot;}"/>
          <p:cNvSpPr txBox="1"/>
          <p:nvPr/>
        </p:nvSpPr>
        <p:spPr>
          <a:xfrm rot="0" flipH="0" flipV="0">
            <a:off x="5286375" y="571500"/>
            <a:ext cx="16192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 spc="225">
                <a:solidFill>
                  <a:srgbClr val="F97316"/>
                </a:solidFill>
                <a:latin typeface="Microsoft YaHei"/>
                <a:ea typeface="Microsoft YaHei"/>
              </a:rPr>
              <a:t>THE SOLUTION</a:t>
            </a:r>
            <a:endParaRPr/>
          </a:p>
        </p:txBody>
      </p:sp>
      <p:sp>
        <p:nvSpPr>
          <p:cNvPr id="40" name="" descr="{&quot;isTemplate&quot;:true,&quot;type&quot;:&quot;text&quot;}"/>
          <p:cNvSpPr txBox="1"/>
          <p:nvPr/>
        </p:nvSpPr>
        <p:spPr>
          <a:xfrm rot="0" flipH="0" flipV="0">
            <a:off x="3705225" y="933450"/>
            <a:ext cx="4781550" cy="1209675"/>
          </a:xfrm>
          <a:prstGeom prst="rect"/>
        </p:spPr>
        <p:txBody>
          <a:bodyPr wrap="none" lIns="0" tIns="0" rIns="0" bIns="0"/>
          <a:p>
            <a:pPr algn="ctr">
              <a:lnSpc>
                <a:spcPct val="120000"/>
              </a:lnSpc>
            </a:pPr>
            <a:r>
              <a:rPr lang="en-US" sz="3300" b="1">
                <a:solidFill>
                  <a:srgbClr val="1A1A1A"/>
                </a:solidFill>
                <a:latin typeface="Microsoft YaHei"/>
                <a:ea typeface="Microsoft YaHei"/>
              </a:rPr>
              <a:t>One AI Agent.</a:t>
            </a:r>
            <a:endParaRPr/>
          </a:p>
          <a:p>
            <a:pPr algn="ctr">
              <a:lnSpc>
                <a:spcPct val="120000"/>
              </a:lnSpc>
            </a:pPr>
            <a:r>
              <a:rPr lang="en-US" sz="3300" b="1">
                <a:solidFill>
                  <a:srgbClr val="3B82F6"/>
                </a:solidFill>
                <a:latin typeface="Microsoft YaHei"/>
                <a:ea typeface="Microsoft YaHei"/>
              </a:rPr>
              <a:t>Three Problems Solved.</a:t>
            </a:r>
            <a:endParaRPr/>
          </a:p>
        </p:txBody>
      </p:sp>
      <p:pic>
        <p:nvPicPr>
          <p:cNvPr id="41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762000" y="2667000"/>
            <a:ext cx="10668000" cy="2667000"/>
          </a:xfrm>
          <a:prstGeom prst="rect">
            <a:avLst/>
          </a:prstGeom>
          <a:ln/>
        </p:spPr>
      </p:pic>
      <p:sp>
        <p:nvSpPr>
          <p:cNvPr id="42" name="" descr="{&quot;isTemplate&quot;:true,&quot;type&quot;:&quot;text&quot;}"/>
          <p:cNvSpPr txBox="1"/>
          <p:nvPr/>
        </p:nvSpPr>
        <p:spPr>
          <a:xfrm rot="0" flipH="0" flipV="0">
            <a:off x="762000" y="6505575"/>
            <a:ext cx="17621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94A3B8"/>
                </a:solidFill>
                <a:latin typeface="Microsoft YaHei"/>
                <a:ea typeface="Microsoft YaHei"/>
              </a:rPr>
              <a:t>WorkBuddy AI · Student Pitch</a:t>
            </a:r>
            <a:endParaRPr/>
          </a:p>
        </p:txBody>
      </p:sp>
      <p:sp>
        <p:nvSpPr>
          <p:cNvPr id="43" name="" descr="{&quot;isTemplate&quot;:true,&quot;type&quot;:&quot;text&quot;}"/>
          <p:cNvSpPr txBox="1"/>
          <p:nvPr/>
        </p:nvSpPr>
        <p:spPr>
          <a:xfrm rot="0" flipH="0" flipV="0">
            <a:off x="11020425" y="6505575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94A3B8"/>
                </a:solidFill>
                <a:latin typeface="Microsoft YaHei"/>
                <a:ea typeface="Microsoft YaHei"/>
              </a:rPr>
              <a:t>03 / 07</a:t>
            </a:r>
            <a:endParaRPr/>
          </a:p>
        </p:txBody>
      </p:sp>
    </p:spTree>
  </p:cSld>
</p:sld>
</file>

<file path=ppt/slides/slide4.xml><?xml version="1.0" encoding="utf-8"?>
<p:sld xmlns:asvg="http://schemas.microsoft.com/office/drawing/2016/SVG/main" xmlns:r="http://schemas.openxmlformats.org/officeDocument/2006/relationships" xmlns:p="http://schemas.openxmlformats.org/presentationml/2006/main" xmlns:a="http://schemas.openxmlformats.org/drawingml/2006/main" xmlns:mc="http://schemas.openxmlformats.org/markup-compatibility/2006" mc:Ignorable="asvg">
  <p:cSld>
    <p:spTree>
      <p:nvGrpSpPr>
        <p:cNvPr id="44" name="" descr="&lt;Slide&gt;&#10;  {/* Background */}&#10;  &lt;Box style={{ position: 'absolute', top: 0, left: 0, width: '100%', height: '100%', background: '#FFFFFF' }} /&gt;&#10;&#10;  {/* Left side: Large image (55% width) */}&#10;  &lt;Box&#10;    style={{&#10;      position: 'absolute',&#10;      top: 0,&#10;      left: 0,&#10;      width: '55%',&#10;      height: '100%',&#10;      overflow: 'hidden',&#10;    }}&#10;  &gt;&#10;    &lt;Image&#10;      src='assets/slide_gen_demo.png'&#10;      style={{&#10;        width: '100%',&#10;        height: '100%',&#10;        objectFit: 'cover',&#10;      }}&#10;    /&gt;&#10;    {/* Gradient overlay for text legibility if needed */}&#10;    &lt;Box&#10;      style={{&#10;        position: 'absolute',&#10;        top: 0,&#10;        left: 0,&#10;        width: '100%',&#10;        height: '100%',&#10;        background: 'linear-gradient(135deg, rgba(59,130,246,0.15) 0%, rgba(139,92,246,0.1) 100%)',&#10;      }}&#10;    /&gt;&#10;  &lt;/Box&gt;&#10;&#10;  {/* Pillar badge on image */}&#10;  &lt;Box&#10;    style={{&#10;      position: 'absolute',&#10;      top: 40,&#10;      left: 40,&#10;      background: 'rgba(59,130,246,0.95)',&#10;      padding: '8px 18px',&#10;      borderRadius: 24,&#10;      flexDirection: 'row',&#10;      alignItems: 'center',&#10;      gap: 8,&#10;    }}&#10;  &gt;&#10;    &lt;Text style={{ color: '#FFFFFF', fontSize: 14, fontWeight: 600, letterSpacing: 2 }}&gt;PILLAR 01&lt;/Text&gt;&#10;  &lt;/Box&gt;&#10;&#10;  {/* Right side: Text content (45% width) */}&#10;  &lt;Box&#10;    style={{&#10;      position: 'absolute',&#10;      top: 0,&#10;      left: '55%',&#10;      width: '45%',&#10;      height: '100%',&#10;      padding: 60,&#10;      flexDirection: 'column',&#10;      justifyContent: 'center',&#10;      background: '#FFFFFF',&#10;    }}&#10;  &gt;&#10;    {/* Icon + title row */}&#10;    &lt;Box style={{ flexDirection: 'row', alignItems: 'center', gap: 12, marginBottom: 24 }}&gt;&#10;      &lt;Box&#10;        style={{&#10;          width: 48,&#10;          height: 48,&#10;          borderRadius: 12,&#10;          background: 'rgba(59,130,246,0.12)',&#10;          justifyContent: 'center',&#10;          alignItems: 'center',&#10;        }}&#10;      &gt;&#10;        &lt;FAIcon name='file-powerpoint' style={{ fill: '#3B82F6', width: 24, height: 24 }} /&gt;&#10;      &lt;/Box&gt;&#10;      &lt;Text&#10;        style={{&#10;          fontSize: 18,&#10;          fontWeight: 600,&#10;          color: '#3B82F6',&#10;          letterSpacing: 2,&#10;        }}&#10;      &gt;&#10;        SLIDE GENERATION&#10;      &lt;/Text&gt;&#10;    &lt;/Box&gt;&#10;&#10;    {/* Main title */}&#10;    &lt;Text&#10;      style={{&#10;        fontSize: 44,&#10;        fontWeight: 'bold',&#10;        color: '#1A1A1A',&#10;        lineHeight: 1.15,&#10;        marginBottom: 24,&#10;      }}&#10;    &gt;&#10;      Instant Polished&lt;br /&gt;&#10;      Presentations&#10;    &lt;/Text&gt;&#10;&#10;    {/* Description */}&#10;    &lt;Text&#10;      style={{&#10;        fontSize: 18,&#10;        color: '#64748B',&#10;        lineHeight: 1.6,&#10;        marginBottom: 32,&#10;      }}&#10;    &gt;&#10;      Students describe their topic, and WorkBuddy AI generates complete, professionally designed slide decks in seconds — structure, visuals, and speaker notes included.&#10;    &lt;/Text&gt;&#10;&#10;    {/* Key metric row */}&#10;    &lt;Box&#10;      style={{&#10;        flexDirection: 'row',&#10;        gap: 20,&#10;        marginBottom: 32,&#10;        paddingTop: 24,&#10;        borderTop: '1px solid #E2E8F0',&#10;      }}&#10;    &gt;&#10;      &lt;Box style={{ flex: 1 }}&gt;&#10;        &lt;Text&#10;          style={{&#10;            fontSize: 44,&#10;            fontWeight: 'bold',&#10;            color: '#F97316',&#10;            lineHeight: 1,&#10;            marginBottom: 4,&#10;          }}&#10;        &gt;&#10;          90%&#10;        &lt;/Text&gt;&#10;        &lt;Text style={{ fontSize: 13, color: '#64748B' }}&gt;time saved on formatting&lt;/Text&gt;&#10;      &lt;/Box&gt;&#10;      &lt;Box&#10;        style={{&#10;          width: 1,&#10;          background: '#E2E8F0',&#10;        }}&#10;      /&gt;&#10;      &lt;Box style={{ flex: 1 }}&gt;&#10;        &lt;Text&#10;          style={{&#10;            fontSize: 44,&#10;            fontWeight: 'bold',&#10;            color: '#F97316',&#10;            lineHeight: 1,&#10;            marginBottom: 4,&#10;          }}&#10;        &gt;&#10;          1-click&#10;        &lt;/Text&gt;&#10;        &lt;Text style={{ fontSize: 13, color: '#64748B' }}&gt;export to .pptx&lt;/Text&gt;&#10;      &lt;/Box&gt;&#10;    &lt;/Box&gt;&#10;&#10;    {/* Feature pills */}&#10;    &lt;Box style={{ flexDirection: 'row', gap: 10, flexWrap: 'wrap' }}&gt;&#10;      &lt;Box style={{ background: '#EFF6FF', padding: '6px 14px', borderRadius: 16 }}&gt;&#10;        &lt;Text style={{ fontSize: 13, color: '#3B82F6', fontWeight: 600 }}&gt;Auto-layout&lt;/Text&gt;&#10;      &lt;/Box&gt;&#10;      &lt;Box style={{ background: '#EFF6FF', padding: '6px 14px', borderRadius: 16 }}&gt;&#10;        &lt;Text style={{ fontSize: 13, color: '#3B82F6', fontWeight: 600 }}&gt;Speaker notes&lt;/Text&gt;&#10;      &lt;/Box&gt;&#10;      &lt;Box style={{ background: '#EFF6FF', padding: '6px 14px', borderRadius: 16 }}&gt;&#10;        &lt;Text style={{ fontSize: 13, color: '#3B82F6', fontWeight: 600 }}&gt;Smart visuals&lt;/Text&gt;&#10;      &lt;/Box&gt;&#10;    &lt;/Box&gt;&#10;  &lt;/Box&gt;&#10;&#10;  {/* Footer */}&#10;  &lt;Box&#10;    style={{&#10;      position: 'absolute',&#10;      bottom: 20,&#10;      right: 80,&#10;      flexDirection: 'row',&#10;      alignItems: 'center',&#10;    }}&#10;  &gt;&#10;    &lt;Text style={{ fontSize: 14, color: '#94A3B8' }}&gt;04 / 07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pic>
        <p:nvPicPr>
          <p:cNvPr id="46" name=""/>
          <p:cNvPicPr>
            <a:picLocks noChangeAspect="1"/>
          </p:cNvPicPr>
          <p:nvPr/>
        </p:nvPicPr>
        <p:blipFill>
          <a:blip r:embed="rId1"/>
          <a:srcRect l="17407" t="0" r="17407" b="0"/>
          <a:stretch>
            <a:fillRect/>
          </a:stretch>
        </p:blipFill>
        <p:spPr>
          <a:xfrm rot="0" flipH="0" flipV="0">
            <a:off x="0" y="0"/>
            <a:ext cx="6705600" cy="6858000"/>
          </a:xfrm>
          <a:prstGeom prst="rect">
            <a:avLst/>
          </a:prstGeom>
          <a:ln/>
        </p:spPr>
      </p:pic>
      <p:sp>
        <p:nvSpPr>
          <p:cNvPr id="47" name=""/>
          <p:cNvSpPr/>
          <p:nvPr/>
        </p:nvSpPr>
        <p:spPr>
          <a:xfrm rot="0" flipH="0" flipV="0">
            <a:off x="0" y="0"/>
            <a:ext cx="6705600" cy="6858000"/>
          </a:xfrm>
          <a:prstGeom prst="rect">
            <a:avLst/>
          </a:prstGeom>
          <a:gradFill>
            <a:gsLst>
              <a:gs pos="0">
                <a:srgbClr val="3B82F6">
                  <a:alpha val="15000"/>
                </a:srgbClr>
              </a:gs>
              <a:gs pos="100000">
                <a:srgbClr val="8B5CF6">
                  <a:alpha val="10000"/>
                </a:srgbClr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48" name=""/>
          <p:cNvSpPr/>
          <p:nvPr/>
        </p:nvSpPr>
        <p:spPr>
          <a:xfrm rot="0" flipH="0" flipV="0">
            <a:off x="381000" y="381000"/>
            <a:ext cx="1190625" cy="314325"/>
          </a:xfrm>
          <a:prstGeom prst="roundRect">
            <a:avLst>
              <a:gd name="adj" fmla="val 72727"/>
            </a:avLst>
          </a:prstGeom>
          <a:solidFill>
            <a:srgbClr val="3B82F6">
              <a:alpha val="95000"/>
            </a:srgbClr>
          </a:solidFill>
          <a:ln/>
        </p:spPr>
        <p:txBody>
          <a:bodyPr/>
          <a:p/>
        </p:txBody>
      </p:sp>
      <p:sp>
        <p:nvSpPr>
          <p:cNvPr id="49" name="" descr="{&quot;isTemplate&quot;:true,&quot;type&quot;:&quot;text&quot;}"/>
          <p:cNvSpPr txBox="1"/>
          <p:nvPr/>
        </p:nvSpPr>
        <p:spPr>
          <a:xfrm rot="0" flipH="0" flipV="0">
            <a:off x="552450" y="457200"/>
            <a:ext cx="8477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 spc="150">
                <a:solidFill>
                  <a:srgbClr val="FFFFFF"/>
                </a:solidFill>
                <a:latin typeface="Microsoft YaHei"/>
                <a:ea typeface="Microsoft YaHei"/>
              </a:rPr>
              <a:t>PILLAR 01</a:t>
            </a:r>
            <a:endParaRPr/>
          </a:p>
        </p:txBody>
      </p:sp>
      <p:sp>
        <p:nvSpPr>
          <p:cNvPr id="50" name=""/>
          <p:cNvSpPr/>
          <p:nvPr/>
        </p:nvSpPr>
        <p:spPr>
          <a:xfrm rot="0" flipH="0" flipV="0">
            <a:off x="6705600" y="0"/>
            <a:ext cx="54864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1" name=""/>
          <p:cNvSpPr/>
          <p:nvPr/>
        </p:nvSpPr>
        <p:spPr>
          <a:xfrm rot="0" flipH="0" flipV="0">
            <a:off x="7277100" y="828675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3B82F6">
              <a:alpha val="12000"/>
            </a:srgbClr>
          </a:solidFill>
          <a:ln/>
        </p:spPr>
        <p:txBody>
          <a:bodyPr/>
          <a:p/>
        </p:txBody>
      </p:sp>
      <p:pic>
        <p:nvPicPr>
          <p:cNvPr id="52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7391400" y="942975"/>
            <a:ext cx="228600" cy="228600"/>
          </a:xfrm>
          <a:prstGeom prst="rect">
            <a:avLst/>
          </a:prstGeom>
          <a:ln/>
        </p:spPr>
      </p:pic>
      <p:sp>
        <p:nvSpPr>
          <p:cNvPr id="53" name="" descr="{&quot;isTemplate&quot;:true,&quot;type&quot;:&quot;text&quot;}"/>
          <p:cNvSpPr txBox="1"/>
          <p:nvPr/>
        </p:nvSpPr>
        <p:spPr>
          <a:xfrm rot="0" flipH="0" flipV="0">
            <a:off x="7848600" y="952500"/>
            <a:ext cx="200977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 spc="150">
                <a:solidFill>
                  <a:srgbClr val="3B82F6"/>
                </a:solidFill>
                <a:latin typeface="Microsoft YaHei"/>
                <a:ea typeface="Microsoft YaHei"/>
              </a:rPr>
              <a:t>SLIDE GENERATION</a:t>
            </a:r>
            <a:endParaRPr/>
          </a:p>
        </p:txBody>
      </p:sp>
      <p:sp>
        <p:nvSpPr>
          <p:cNvPr id="54" name="" descr="{&quot;isTemplate&quot;:true,&quot;type&quot;:&quot;text&quot;}"/>
          <p:cNvSpPr txBox="1"/>
          <p:nvPr/>
        </p:nvSpPr>
        <p:spPr>
          <a:xfrm rot="0" flipH="0" flipV="0">
            <a:off x="7277100" y="1514475"/>
            <a:ext cx="4343400" cy="1162050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en-US" sz="3300" b="1">
                <a:solidFill>
                  <a:srgbClr val="1A1A1A"/>
                </a:solidFill>
                <a:latin typeface="Microsoft YaHei"/>
                <a:ea typeface="Microsoft YaHei"/>
              </a:rPr>
              <a:t>Instant Polished</a:t>
            </a:r>
            <a:endParaRPr/>
          </a:p>
          <a:p>
            <a:pPr>
              <a:lnSpc>
                <a:spcPct val="114999"/>
              </a:lnSpc>
            </a:pPr>
            <a:r>
              <a:rPr lang="en-US" sz="3300" b="1">
                <a:solidFill>
                  <a:srgbClr val="1A1A1A"/>
                </a:solidFill>
                <a:latin typeface="Microsoft YaHei"/>
                <a:ea typeface="Microsoft YaHei"/>
              </a:rPr>
              <a:t>Presentations</a:t>
            </a:r>
            <a:endParaRPr/>
          </a:p>
        </p:txBody>
      </p:sp>
      <p:sp>
        <p:nvSpPr>
          <p:cNvPr id="55" name="" descr="{&quot;isTemplate&quot;:true,&quot;type&quot;:&quot;text&quot;}"/>
          <p:cNvSpPr txBox="1"/>
          <p:nvPr/>
        </p:nvSpPr>
        <p:spPr>
          <a:xfrm rot="0" flipH="0" flipV="0">
            <a:off x="7277100" y="2905125"/>
            <a:ext cx="4343400" cy="13239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en-US" sz="1350">
                <a:solidFill>
                  <a:srgbClr val="64748B"/>
                </a:solidFill>
                <a:latin typeface="Microsoft YaHei"/>
                <a:ea typeface="Microsoft YaHei"/>
              </a:rPr>
              <a:t>Students describe their topic, and WorkBuddy AI generates complete, professionally designed slide decks in seconds — structure, visuals, and speaker notes included.</a:t>
            </a:r>
            <a:endParaRPr/>
          </a:p>
        </p:txBody>
      </p:sp>
      <p:sp>
        <p:nvSpPr>
          <p:cNvPr id="56" name=""/>
          <p:cNvSpPr/>
          <p:nvPr/>
        </p:nvSpPr>
        <p:spPr>
          <a:xfrm rot="0" flipH="0" flipV="0">
            <a:off x="7277100" y="4533900"/>
            <a:ext cx="4343400" cy="942975"/>
          </a:xfrm>
          <a:custGeom>
            <a:pathLst>
              <a:path w="456" h="99">
                <a:moveTo>
                  <a:pt x="0" y="0"/>
                </a:moveTo>
                <a:lnTo>
                  <a:pt x="456" y="0"/>
                </a:lnTo>
                <a:lnTo>
                  <a:pt x="456" y="1"/>
                </a:lnTo>
                <a:lnTo>
                  <a:pt x="0" y="1"/>
                </a:lnTo>
                <a:close/>
              </a:path>
            </a:pathLst>
          </a:custGeom>
          <a:solidFill>
            <a:srgbClr val="E2E8F0"/>
          </a:solidFill>
          <a:ln/>
        </p:spPr>
        <p:txBody>
          <a:bodyPr/>
          <a:p/>
        </p:txBody>
      </p:sp>
      <p:sp>
        <p:nvSpPr>
          <p:cNvPr id="57" name="" descr="{&quot;isTemplate&quot;:true,&quot;type&quot;:&quot;text&quot;}"/>
          <p:cNvSpPr txBox="1"/>
          <p:nvPr/>
        </p:nvSpPr>
        <p:spPr>
          <a:xfrm rot="0" flipH="0" flipV="0">
            <a:off x="7277100" y="4772025"/>
            <a:ext cx="1981200" cy="504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300" b="1">
                <a:solidFill>
                  <a:srgbClr val="F97316"/>
                </a:solidFill>
                <a:latin typeface="Microsoft YaHei"/>
                <a:ea typeface="Microsoft YaHei"/>
              </a:rPr>
              <a:t>90%</a:t>
            </a:r>
            <a:endParaRPr/>
          </a:p>
        </p:txBody>
      </p:sp>
      <p:sp>
        <p:nvSpPr>
          <p:cNvPr id="58" name="" descr="{&quot;isTemplate&quot;:true,&quot;type&quot;:&quot;text&quot;}"/>
          <p:cNvSpPr txBox="1"/>
          <p:nvPr/>
        </p:nvSpPr>
        <p:spPr>
          <a:xfrm rot="0" flipH="0" flipV="0">
            <a:off x="7277100" y="5314950"/>
            <a:ext cx="19812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Microsoft YaHei"/>
                <a:ea typeface="Microsoft YaHei"/>
              </a:rPr>
              <a:t>time saved on formatting</a:t>
            </a:r>
            <a:endParaRPr/>
          </a:p>
        </p:txBody>
      </p:sp>
      <p:sp>
        <p:nvSpPr>
          <p:cNvPr id="59" name=""/>
          <p:cNvSpPr/>
          <p:nvPr/>
        </p:nvSpPr>
        <p:spPr>
          <a:xfrm rot="0" flipH="0" flipV="0">
            <a:off x="9448800" y="4772025"/>
            <a:ext cx="9525" cy="695325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p/>
        </p:txBody>
      </p:sp>
      <p:sp>
        <p:nvSpPr>
          <p:cNvPr id="60" name="" descr="{&quot;isTemplate&quot;:true,&quot;type&quot;:&quot;text&quot;}"/>
          <p:cNvSpPr txBox="1"/>
          <p:nvPr/>
        </p:nvSpPr>
        <p:spPr>
          <a:xfrm rot="0" flipH="0" flipV="0">
            <a:off x="9648825" y="4772025"/>
            <a:ext cx="1971675" cy="504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300" b="1">
                <a:solidFill>
                  <a:srgbClr val="F97316"/>
                </a:solidFill>
                <a:latin typeface="Microsoft YaHei"/>
                <a:ea typeface="Microsoft YaHei"/>
              </a:rPr>
              <a:t>1-click</a:t>
            </a:r>
            <a:endParaRPr/>
          </a:p>
        </p:txBody>
      </p:sp>
      <p:sp>
        <p:nvSpPr>
          <p:cNvPr id="61" name="" descr="{&quot;isTemplate&quot;:true,&quot;type&quot;:&quot;text&quot;}"/>
          <p:cNvSpPr txBox="1"/>
          <p:nvPr/>
        </p:nvSpPr>
        <p:spPr>
          <a:xfrm rot="0" flipH="0" flipV="0">
            <a:off x="9648825" y="5314950"/>
            <a:ext cx="19716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Microsoft YaHei"/>
                <a:ea typeface="Microsoft YaHei"/>
              </a:rPr>
              <a:t>export to .pptx</a:t>
            </a:r>
            <a:endParaRPr/>
          </a:p>
        </p:txBody>
      </p:sp>
      <p:sp>
        <p:nvSpPr>
          <p:cNvPr id="62" name=""/>
          <p:cNvSpPr/>
          <p:nvPr/>
        </p:nvSpPr>
        <p:spPr>
          <a:xfrm rot="0" flipH="0" flipV="0">
            <a:off x="7277100" y="5772150"/>
            <a:ext cx="962025" cy="266700"/>
          </a:xfrm>
          <a:prstGeom prst="roundRect">
            <a:avLst>
              <a:gd name="adj" fmla="val 57143"/>
            </a:avLst>
          </a:prstGeom>
          <a:solidFill>
            <a:srgbClr val="EFF6FF"/>
          </a:solidFill>
          <a:ln/>
        </p:spPr>
        <p:txBody>
          <a:bodyPr/>
          <a:p/>
        </p:txBody>
      </p:sp>
      <p:sp>
        <p:nvSpPr>
          <p:cNvPr id="63" name="" descr="{&quot;isTemplate&quot;:true,&quot;type&quot;:&quot;text&quot;}"/>
          <p:cNvSpPr txBox="1"/>
          <p:nvPr/>
        </p:nvSpPr>
        <p:spPr>
          <a:xfrm rot="0" flipH="0" flipV="0">
            <a:off x="7410450" y="5829300"/>
            <a:ext cx="6953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3B82F6"/>
                </a:solidFill>
                <a:latin typeface="Microsoft YaHei"/>
                <a:ea typeface="Microsoft YaHei"/>
              </a:rPr>
              <a:t>Auto-layout</a:t>
            </a:r>
            <a:endParaRPr/>
          </a:p>
        </p:txBody>
      </p:sp>
      <p:sp>
        <p:nvSpPr>
          <p:cNvPr id="64" name=""/>
          <p:cNvSpPr/>
          <p:nvPr/>
        </p:nvSpPr>
        <p:spPr>
          <a:xfrm rot="0" flipH="0" flipV="0">
            <a:off x="8334375" y="5772150"/>
            <a:ext cx="1114425" cy="266700"/>
          </a:xfrm>
          <a:prstGeom prst="roundRect">
            <a:avLst>
              <a:gd name="adj" fmla="val 57143"/>
            </a:avLst>
          </a:prstGeom>
          <a:solidFill>
            <a:srgbClr val="EFF6FF"/>
          </a:solidFill>
          <a:ln/>
        </p:spPr>
        <p:txBody>
          <a:bodyPr/>
          <a:p/>
        </p:txBody>
      </p:sp>
      <p:sp>
        <p:nvSpPr>
          <p:cNvPr id="65" name="" descr="{&quot;isTemplate&quot;:true,&quot;type&quot;:&quot;text&quot;}"/>
          <p:cNvSpPr txBox="1"/>
          <p:nvPr/>
        </p:nvSpPr>
        <p:spPr>
          <a:xfrm rot="0" flipH="0" flipV="0">
            <a:off x="8467725" y="5829300"/>
            <a:ext cx="8477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3B82F6"/>
                </a:solidFill>
                <a:latin typeface="Microsoft YaHei"/>
                <a:ea typeface="Microsoft YaHei"/>
              </a:rPr>
              <a:t>Speaker notes</a:t>
            </a:r>
            <a:endParaRPr/>
          </a:p>
        </p:txBody>
      </p:sp>
      <p:sp>
        <p:nvSpPr>
          <p:cNvPr id="66" name=""/>
          <p:cNvSpPr/>
          <p:nvPr/>
        </p:nvSpPr>
        <p:spPr>
          <a:xfrm rot="0" flipH="0" flipV="0">
            <a:off x="9544050" y="5772150"/>
            <a:ext cx="1076325" cy="266700"/>
          </a:xfrm>
          <a:prstGeom prst="roundRect">
            <a:avLst>
              <a:gd name="adj" fmla="val 57143"/>
            </a:avLst>
          </a:prstGeom>
          <a:solidFill>
            <a:srgbClr val="EFF6FF"/>
          </a:solidFill>
          <a:ln/>
        </p:spPr>
        <p:txBody>
          <a:bodyPr/>
          <a:p/>
        </p:txBody>
      </p:sp>
      <p:sp>
        <p:nvSpPr>
          <p:cNvPr id="67" name="" descr="{&quot;isTemplate&quot;:true,&quot;type&quot;:&quot;text&quot;}"/>
          <p:cNvSpPr txBox="1"/>
          <p:nvPr/>
        </p:nvSpPr>
        <p:spPr>
          <a:xfrm rot="0" flipH="0" flipV="0">
            <a:off x="9677400" y="5829300"/>
            <a:ext cx="8096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3B82F6"/>
                </a:solidFill>
                <a:latin typeface="Microsoft YaHei"/>
                <a:ea typeface="Microsoft YaHei"/>
              </a:rPr>
              <a:t>Smart visuals</a:t>
            </a:r>
            <a:endParaRPr/>
          </a:p>
        </p:txBody>
      </p:sp>
      <p:sp>
        <p:nvSpPr>
          <p:cNvPr id="68" name="" descr="{&quot;isTemplate&quot;:true,&quot;type&quot;:&quot;text&quot;}"/>
          <p:cNvSpPr txBox="1"/>
          <p:nvPr/>
        </p:nvSpPr>
        <p:spPr>
          <a:xfrm rot="0" flipH="0" flipV="0">
            <a:off x="11020425" y="6505575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94A3B8"/>
                </a:solidFill>
                <a:latin typeface="Microsoft YaHei"/>
                <a:ea typeface="Microsoft YaHei"/>
              </a:rPr>
              <a:t>04 / 07</a:t>
            </a:r>
            <a:endParaRPr/>
          </a:p>
        </p:txBody>
      </p:sp>
    </p:spTree>
  </p:cSld>
</p:sld>
</file>

<file path=ppt/slides/slide5.xml><?xml version="1.0" encoding="utf-8"?>
<p:sld xmlns:asvg="http://schemas.microsoft.com/office/drawing/2016/SVG/main" xmlns:r="http://schemas.openxmlformats.org/officeDocument/2006/relationships" xmlns:p="http://schemas.openxmlformats.org/presentationml/2006/main" xmlns:a="http://schemas.openxmlformats.org/drawingml/2006/main" xmlns:mc="http://schemas.openxmlformats.org/markup-compatibility/2006" mc:Ignorable="asvg">
  <p:cSld>
    <p:spTree>
      <p:nvGrpSpPr>
        <p:cNvPr id="69" name="" descr="&lt;Slide&gt;&#10;  {/* Background */}&#10;  &lt;Box style={{ position: 'absolute', top: 0, left: 0, width: '100%', height: '100%', background: '#FFFFFF' }} /&gt;&#10;&#10;  {/* Right side: Image (40% width) */}&#10;  &lt;Box&#10;    style={{&#10;      position: 'absolute',&#10;      top: 0,&#10;      right: 0,&#10;      width: '40%',&#10;      height: '100%',&#10;      overflow: 'hidden',&#10;    }}&#10;  &gt;&#10;    &lt;Image&#10;      src='assets/advisor_demo.png'&#10;      style={{&#10;        width: '100%',&#10;        height: '100%',&#10;        objectFit: 'cover',&#10;      }}&#10;    /&gt;&#10;    {/* Gradient overlay */}&#10;    &lt;Box&#10;      style={{&#10;        position: 'absolute',&#10;        top: 0,&#10;        left: 0,&#10;        width: '100%',&#10;        height: '100%',&#10;        background: 'linear-gradient(225deg, rgba(139,92,246,0.1) 0%, rgba(59,130,246,0.05) 100%)',&#10;      }}&#10;    /&gt;&#10;  &lt;/Box&gt;&#10;&#10;  {/* Pillar badge on image */}&#10;  &lt;Box&#10;    style={{&#10;      position: 'absolute',&#10;      top: 40,&#10;      right: 40,&#10;      background: 'rgba(139,92,246,0.95)',&#10;      padding: '8px 18px',&#10;      borderRadius: 24,&#10;    }}&#10;  &gt;&#10;    &lt;Text style={{ color: '#FFFFFF', fontSize: 14, fontWeight: 600, letterSpacing: 2 }}&gt;PILLAR 02&lt;/Text&gt;&#10;  &lt;/Box&gt;&#10;&#10;  {/* Left side: Text content (60% width) */}&#10;  &lt;Box&#10;    style={{&#10;      position: 'absolute',&#10;      top: 0,&#10;      left: 0,&#10;      width: '60%',&#10;      height: '100%',&#10;      padding: 60,&#10;      flexDirection: 'column',&#10;      justifyContent: 'center',&#10;    }}&#10;  &gt;&#10;    {/* Icon + title row */}&#10;    &lt;Box style={{ flexDirection: 'row', alignItems: 'center', gap: 12, marginBottom: 24 }}&gt;&#10;      &lt;Box&#10;        style={{&#10;          width: 48,&#10;          height: 48,&#10;          borderRadius: 12,&#10;          background: 'rgba(139,92,246,0.12)',&#10;          justifyContent: 'center',&#10;          alignItems: 'center',&#10;        }}&#10;      &gt;&#10;        &lt;FAIcon name='book-open' style={{ fill: '#8B5CF6', width: 24, height: 24 }} /&gt;&#10;      &lt;/Box&gt;&#10;      &lt;Text&#10;        style={{&#10;          fontSize: 18,&#10;          fontWeight: 600,&#10;          color: '#8B5CF6',&#10;          letterSpacing: 2,&#10;        }}&#10;      &gt;&#10;        ACADEMIC ADVISOR&#10;      &lt;/Text&gt;&#10;    &lt;/Box&gt;&#10;&#10;    {/* Main title */}&#10;    &lt;Text&#10;      style={{&#10;        fontSize: 44,&#10;        fontWeight: 'bold',&#10;        color: '#1A1A1A',&#10;        lineHeight: 1.15,&#10;        marginBottom: 24,&#10;      }}&#10;    &gt;&#10;      24/7 Personal&lt;br /&gt;&#10;      Assignment Coach&#10;    &lt;/Text&gt;&#10;&#10;    {/* Description */}&#10;    &lt;Text&#10;      style={{&#10;        fontSize: 18,&#10;        color: '#64748B',&#10;        lineHeight: 1.6,&#10;        marginBottom: 32,&#10;      }}&#10;    &gt;&#10;      WorkBuddy AI acts as a round-the-clock academic advisor — breaking down assignment prompts, suggesting approaches, checking drafts, and explaining concepts step-by-step with Socratic guidance.&#10;    &lt;/Text&gt;&#10;&#10;    {/* Feature list */}&#10;    &lt;Box style={{ flexDirection: 'column', gap: 14, marginBottom: 28 }}&gt;&#10;      &lt;Box style={{ flexDirection: 'row', alignItems: 'center', gap: 12 }}&gt;&#10;        &lt;Box&#10;          style={{&#10;            width: 28,&#10;            height: 28,&#10;            borderRadius: 14,&#10;            background: 'rgba(139,92,246,0.15)',&#10;            justifyContent: 'center',&#10;            alignItems: 'center',&#10;          }}&#10;        &gt;&#10;          &lt;FAIcon name='check' style={{ fill: '#8B5CF6', width: 14, height: 14 }} /&gt;&#10;        &lt;/Box&gt;&#10;        &lt;Text style={{ fontSize: 16, color: '#1A1A1A' }}&gt;&#10;          &lt;span style={{ fontWeight: 600 }}&gt;Prompt breakdown&lt;/span&gt; — clarifies vague assignments into clear steps&#10;        &lt;/Text&gt;&#10;      &lt;/Box&gt;&#10;      &lt;Box style={{ flexDirection: 'row', alignItems: 'center', gap: 12 }}&gt;&#10;        &lt;Box&#10;          style={{&#10;            width: 28,&#10;            height: 28,&#10;            borderRadius: 14,&#10;            background: 'rgba(139,92,246,0.15)',&#10;            justifyContent: 'center',&#10;            alignItems: 'center',&#10;          }}&#10;        &gt;&#10;          &lt;FAIcon name='check' style={{ fill: '#8B5CF6', width: 14, height: 14 }} /&gt;&#10;        &lt;/Box&gt;&#10;        &lt;Text style={{ fontSize: 16, color: '#1A1A1A' }}&gt;&#10;          &lt;span style={{ fontWeight: 600 }}&gt;Concept explanation&lt;/span&gt; — teaches, doesn't just give answers&#10;        &lt;/Text&gt;&#10;      &lt;/Box&gt;&#10;      &lt;Box style={{ flexDirection: 'row', alignItems: 'center', gap: 12 }}&gt;&#10;        &lt;Box&#10;          style={{&#10;            width: 28,&#10;            height: 28,&#10;            borderRadius: 14,&#10;            background: 'rgba(139,92,246,0.15)',&#10;            justifyContent: 'center',&#10;            alignItems: 'center',&#10;          }}&#10;        &gt;&#10;          &lt;FAIcon name='check' style={{ fill: '#8B5CF6', width: 14, height: 14 }} /&gt;&#10;        &lt;/Box&gt;&#10;        &lt;Text style={{ fontSize: 16, color: '#1A1A1A' }}&gt;&#10;          &lt;span style={{ fontWeight: 600 }}&gt;Draft feedback&lt;/span&gt; — reviews writing and suggests improvements&#10;        &lt;/Text&gt;&#10;      &lt;/Box&gt;&#10;    &lt;/Box&gt;&#10;&#10;    {/* Quote callout */}&#10;    &lt;Box&#10;      style={{&#10;        background: 'rgba(139,92,246,0.08)',&#10;        borderLeft: '4px solid #8B5CF6',&#10;        padding: 16,&#10;        borderRadius: 8,&#10;        flexDirection: 'row',&#10;        alignItems: 'center',&#10;        gap: 12,&#10;      }}&#10;    &gt;&#10;      &lt;FAIcon name='quote-left' style={{ fill: '#8B5CF6', width: 24, height: 24 }} /&gt;&#10;      &lt;Text style={{ fontSize: 15, color: '#1A1A1A', fontStyle: 'italic' }}&gt;&#10;        Guidance, not answers — students learn by doing.&#10;      &lt;/Text&gt;&#10;    &lt;/Box&gt;&#10;  &lt;/Box&gt;&#10;&#10;  {/* Footer */}&#10;  &lt;Box&#10;    style={{&#10;      position: 'absolute',&#10;      bottom: 20,&#10;      left: 80,&#10;      right: 80,&#10;      flexDirection: 'row',&#10;      justifyContent: 'space-between',&#10;      alignItems: 'center',&#10;    }}&#10;  &gt;&#10;    &lt;Text style={{ fontSize: 14, color: '#94A3B8' }}&gt;WorkBuddy AI · Student Pitch&lt;/Text&gt;&#10;    &lt;Text style={{ fontSize: 14, color: '#94A3B8' }}&gt;05 / 07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pic>
        <p:nvPicPr>
          <p:cNvPr id="71" name=""/>
          <p:cNvPicPr>
            <a:picLocks noChangeAspect="1"/>
          </p:cNvPicPr>
          <p:nvPr/>
        </p:nvPicPr>
        <p:blipFill>
          <a:blip r:embed="rId1"/>
          <a:srcRect l="26296" t="0" r="26296" b="0"/>
          <a:stretch>
            <a:fillRect/>
          </a:stretch>
        </p:blipFill>
        <p:spPr>
          <a:xfrm rot="0" flipH="0" flipV="0">
            <a:off x="7315200" y="0"/>
            <a:ext cx="4876800" cy="6858000"/>
          </a:xfrm>
          <a:prstGeom prst="rect">
            <a:avLst/>
          </a:prstGeom>
          <a:ln/>
        </p:spPr>
      </p:pic>
      <p:sp>
        <p:nvSpPr>
          <p:cNvPr id="72" name=""/>
          <p:cNvSpPr/>
          <p:nvPr/>
        </p:nvSpPr>
        <p:spPr>
          <a:xfrm rot="0" flipH="0" flipV="0">
            <a:off x="7315200" y="0"/>
            <a:ext cx="4876800" cy="6858000"/>
          </a:xfrm>
          <a:prstGeom prst="rect">
            <a:avLst/>
          </a:prstGeom>
          <a:gradFill>
            <a:gsLst>
              <a:gs pos="0">
                <a:srgbClr val="8B5CF6">
                  <a:alpha val="10000"/>
                </a:srgbClr>
              </a:gs>
              <a:gs pos="100000">
                <a:srgbClr val="3B82F6">
                  <a:alpha val="5000"/>
                </a:srgbClr>
              </a:gs>
            </a:gsLst>
            <a:lin ang="8100000" scaled="1"/>
          </a:gradFill>
          <a:ln/>
        </p:spPr>
        <p:txBody>
          <a:bodyPr/>
          <a:p/>
        </p:txBody>
      </p:sp>
      <p:sp>
        <p:nvSpPr>
          <p:cNvPr id="73" name=""/>
          <p:cNvSpPr/>
          <p:nvPr/>
        </p:nvSpPr>
        <p:spPr>
          <a:xfrm rot="0" flipH="0" flipV="0">
            <a:off x="10620375" y="381000"/>
            <a:ext cx="1190625" cy="314325"/>
          </a:xfrm>
          <a:prstGeom prst="roundRect">
            <a:avLst>
              <a:gd name="adj" fmla="val 72727"/>
            </a:avLst>
          </a:prstGeom>
          <a:solidFill>
            <a:srgbClr val="8B5CF6">
              <a:alpha val="95000"/>
            </a:srgbClr>
          </a:solidFill>
          <a:ln/>
        </p:spPr>
        <p:txBody>
          <a:bodyPr/>
          <a:p/>
        </p:txBody>
      </p:sp>
      <p:sp>
        <p:nvSpPr>
          <p:cNvPr id="74" name="" descr="{&quot;isTemplate&quot;:true,&quot;type&quot;:&quot;text&quot;}"/>
          <p:cNvSpPr txBox="1"/>
          <p:nvPr/>
        </p:nvSpPr>
        <p:spPr>
          <a:xfrm rot="0" flipH="0" flipV="0">
            <a:off x="10791825" y="457200"/>
            <a:ext cx="8477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 spc="150">
                <a:solidFill>
                  <a:srgbClr val="FFFFFF"/>
                </a:solidFill>
                <a:latin typeface="Microsoft YaHei"/>
                <a:ea typeface="Microsoft YaHei"/>
              </a:rPr>
              <a:t>PILLAR 02</a:t>
            </a:r>
            <a:endParaRPr/>
          </a:p>
        </p:txBody>
      </p:sp>
      <p:sp>
        <p:nvSpPr>
          <p:cNvPr id="75" name=""/>
          <p:cNvSpPr/>
          <p:nvPr/>
        </p:nvSpPr>
        <p:spPr>
          <a:xfrm rot="0" flipH="0" flipV="0">
            <a:off x="571500" y="809625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8B5CF6">
              <a:alpha val="12000"/>
            </a:srgbClr>
          </a:solidFill>
          <a:ln/>
        </p:spPr>
        <p:txBody>
          <a:bodyPr/>
          <a:p/>
        </p:txBody>
      </p:sp>
      <p:pic>
        <p:nvPicPr>
          <p:cNvPr id="76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685800" y="923925"/>
            <a:ext cx="228600" cy="228600"/>
          </a:xfrm>
          <a:prstGeom prst="rect">
            <a:avLst/>
          </a:prstGeom>
          <a:ln/>
        </p:spPr>
      </p:pic>
      <p:sp>
        <p:nvSpPr>
          <p:cNvPr id="77" name="" descr="{&quot;isTemplate&quot;:true,&quot;type&quot;:&quot;text&quot;}"/>
          <p:cNvSpPr txBox="1"/>
          <p:nvPr/>
        </p:nvSpPr>
        <p:spPr>
          <a:xfrm rot="0" flipH="0" flipV="0">
            <a:off x="1143000" y="933450"/>
            <a:ext cx="206692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 spc="150">
                <a:solidFill>
                  <a:srgbClr val="8B5CF6"/>
                </a:solidFill>
                <a:latin typeface="Microsoft YaHei"/>
                <a:ea typeface="Microsoft YaHei"/>
              </a:rPr>
              <a:t>ACADEMIC ADVISOR</a:t>
            </a:r>
            <a:endParaRPr/>
          </a:p>
        </p:txBody>
      </p:sp>
      <p:sp>
        <p:nvSpPr>
          <p:cNvPr id="78" name="" descr="{&quot;isTemplate&quot;:true,&quot;type&quot;:&quot;text&quot;}"/>
          <p:cNvSpPr txBox="1"/>
          <p:nvPr/>
        </p:nvSpPr>
        <p:spPr>
          <a:xfrm rot="0" flipH="0" flipV="0">
            <a:off x="571500" y="1495425"/>
            <a:ext cx="6172200" cy="1162050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en-US" sz="3300" b="1">
                <a:solidFill>
                  <a:srgbClr val="1A1A1A"/>
                </a:solidFill>
                <a:latin typeface="Microsoft YaHei"/>
                <a:ea typeface="Microsoft YaHei"/>
              </a:rPr>
              <a:t>24/7 Personal</a:t>
            </a:r>
            <a:endParaRPr/>
          </a:p>
          <a:p>
            <a:pPr>
              <a:lnSpc>
                <a:spcPct val="114999"/>
              </a:lnSpc>
            </a:pPr>
            <a:r>
              <a:rPr lang="en-US" sz="3300" b="1">
                <a:solidFill>
                  <a:srgbClr val="1A1A1A"/>
                </a:solidFill>
                <a:latin typeface="Microsoft YaHei"/>
                <a:ea typeface="Microsoft YaHei"/>
              </a:rPr>
              <a:t>Assignment Coach</a:t>
            </a:r>
            <a:endParaRPr/>
          </a:p>
        </p:txBody>
      </p:sp>
      <p:sp>
        <p:nvSpPr>
          <p:cNvPr id="79" name="" descr="{&quot;isTemplate&quot;:true,&quot;type&quot;:&quot;text&quot;}"/>
          <p:cNvSpPr txBox="1"/>
          <p:nvPr/>
        </p:nvSpPr>
        <p:spPr>
          <a:xfrm rot="0" flipH="0" flipV="0">
            <a:off x="571500" y="2886075"/>
            <a:ext cx="6172200" cy="9906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en-US" sz="1350">
                <a:solidFill>
                  <a:srgbClr val="64748B"/>
                </a:solidFill>
                <a:latin typeface="Microsoft YaHei"/>
                <a:ea typeface="Microsoft YaHei"/>
              </a:rPr>
              <a:t>WorkBuddy AI acts as a round-the-clock academic advisor — breaking down assignment prompts, suggesting approaches, checking drafts, and explaining concepts step-by-step with Socratic guidance.</a:t>
            </a:r>
            <a:endParaRPr/>
          </a:p>
        </p:txBody>
      </p:sp>
      <p:sp>
        <p:nvSpPr>
          <p:cNvPr id="80" name=""/>
          <p:cNvSpPr/>
          <p:nvPr/>
        </p:nvSpPr>
        <p:spPr>
          <a:xfrm rot="0" flipH="0" flipV="0">
            <a:off x="571500" y="4181475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8B5CF6">
              <a:alpha val="15000"/>
            </a:srgbClr>
          </a:solidFill>
          <a:ln/>
        </p:spPr>
        <p:txBody>
          <a:bodyPr/>
          <a:p/>
        </p:txBody>
      </p:sp>
      <p:pic>
        <p:nvPicPr>
          <p:cNvPr id="81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638175" y="4248150"/>
            <a:ext cx="133350" cy="133350"/>
          </a:xfrm>
          <a:prstGeom prst="rect">
            <a:avLst/>
          </a:prstGeom>
          <a:ln/>
        </p:spPr>
      </p:pic>
      <p:sp>
        <p:nvSpPr>
          <p:cNvPr id="82" name="" descr="{&quot;isTemplate&quot;:true,&quot;type&quot;:&quot;text&quot;}"/>
          <p:cNvSpPr txBox="1"/>
          <p:nvPr/>
        </p:nvSpPr>
        <p:spPr>
          <a:xfrm rot="0" flipH="0" flipV="0">
            <a:off x="952500" y="4219575"/>
            <a:ext cx="45624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1A1A1A"/>
                </a:solidFill>
                <a:latin typeface="Microsoft YaHei"/>
                <a:ea typeface="Microsoft YaHei"/>
              </a:rPr>
              <a:t>Prompt breakdown</a:t>
            </a:r>
            <a:r>
              <a:rPr lang="en-US" sz="1200">
                <a:solidFill>
                  <a:srgbClr val="1A1A1A"/>
                </a:solidFill>
                <a:latin typeface="Microsoft YaHei"/>
                <a:ea typeface="Microsoft YaHei"/>
              </a:rPr>
              <a:t xml:space="preserve"> — clarifies vague assignments into clear steps</a:t>
            </a:r>
            <a:endParaRPr/>
          </a:p>
        </p:txBody>
      </p:sp>
      <p:sp>
        <p:nvSpPr>
          <p:cNvPr id="83" name=""/>
          <p:cNvSpPr/>
          <p:nvPr/>
        </p:nvSpPr>
        <p:spPr>
          <a:xfrm rot="0" flipH="0" flipV="0">
            <a:off x="571500" y="4581525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8B5CF6">
              <a:alpha val="15000"/>
            </a:srgbClr>
          </a:solidFill>
          <a:ln/>
        </p:spPr>
        <p:txBody>
          <a:bodyPr/>
          <a:p/>
        </p:txBody>
      </p:sp>
      <p:pic>
        <p:nvPicPr>
          <p:cNvPr id="84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638175" y="4648200"/>
            <a:ext cx="133350" cy="133350"/>
          </a:xfrm>
          <a:prstGeom prst="rect">
            <a:avLst/>
          </a:prstGeom>
          <a:ln/>
        </p:spPr>
      </p:pic>
      <p:sp>
        <p:nvSpPr>
          <p:cNvPr id="85" name="" descr="{&quot;isTemplate&quot;:true,&quot;type&quot;:&quot;text&quot;}"/>
          <p:cNvSpPr txBox="1"/>
          <p:nvPr/>
        </p:nvSpPr>
        <p:spPr>
          <a:xfrm rot="0" flipH="0" flipV="0">
            <a:off x="952500" y="4619625"/>
            <a:ext cx="40576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1A1A1A"/>
                </a:solidFill>
                <a:latin typeface="Microsoft YaHei"/>
                <a:ea typeface="Microsoft YaHei"/>
              </a:rPr>
              <a:t>Concept explanation</a:t>
            </a:r>
            <a:r>
              <a:rPr lang="en-US" sz="1200">
                <a:solidFill>
                  <a:srgbClr val="1A1A1A"/>
                </a:solidFill>
                <a:latin typeface="Microsoft YaHei"/>
                <a:ea typeface="Microsoft YaHei"/>
              </a:rPr>
              <a:t xml:space="preserve"> — teaches, doesn't just give answers</a:t>
            </a:r>
            <a:endParaRPr/>
          </a:p>
        </p:txBody>
      </p:sp>
      <p:sp>
        <p:nvSpPr>
          <p:cNvPr id="86" name=""/>
          <p:cNvSpPr/>
          <p:nvPr/>
        </p:nvSpPr>
        <p:spPr>
          <a:xfrm rot="0" flipH="0" flipV="0">
            <a:off x="571500" y="4981575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8B5CF6">
              <a:alpha val="15000"/>
            </a:srgbClr>
          </a:solidFill>
          <a:ln/>
        </p:spPr>
        <p:txBody>
          <a:bodyPr/>
          <a:p/>
        </p:txBody>
      </p:sp>
      <p:pic>
        <p:nvPicPr>
          <p:cNvPr id="87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638175" y="5048250"/>
            <a:ext cx="133350" cy="133350"/>
          </a:xfrm>
          <a:prstGeom prst="rect">
            <a:avLst/>
          </a:prstGeom>
          <a:ln/>
        </p:spPr>
      </p:pic>
      <p:sp>
        <p:nvSpPr>
          <p:cNvPr id="88" name="" descr="{&quot;isTemplate&quot;:true,&quot;type&quot;:&quot;text&quot;}"/>
          <p:cNvSpPr txBox="1"/>
          <p:nvPr/>
        </p:nvSpPr>
        <p:spPr>
          <a:xfrm rot="0" flipH="0" flipV="0">
            <a:off x="952500" y="5019675"/>
            <a:ext cx="42481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1A1A1A"/>
                </a:solidFill>
                <a:latin typeface="Microsoft YaHei"/>
                <a:ea typeface="Microsoft YaHei"/>
              </a:rPr>
              <a:t>Draft feedback</a:t>
            </a:r>
            <a:r>
              <a:rPr lang="en-US" sz="1200">
                <a:solidFill>
                  <a:srgbClr val="1A1A1A"/>
                </a:solidFill>
                <a:latin typeface="Microsoft YaHei"/>
                <a:ea typeface="Microsoft YaHei"/>
              </a:rPr>
              <a:t xml:space="preserve"> — reviews writing and suggests improvements</a:t>
            </a:r>
            <a:endParaRPr/>
          </a:p>
        </p:txBody>
      </p:sp>
      <p:sp>
        <p:nvSpPr>
          <p:cNvPr id="89" name=""/>
          <p:cNvSpPr/>
          <p:nvPr/>
        </p:nvSpPr>
        <p:spPr>
          <a:xfrm rot="0" flipH="0" flipV="0">
            <a:off x="609600" y="5514975"/>
            <a:ext cx="6172200" cy="533400"/>
          </a:xfrm>
          <a:prstGeom prst="roundRect">
            <a:avLst>
              <a:gd name="adj" fmla="val 14286"/>
            </a:avLst>
          </a:prstGeom>
          <a:solidFill>
            <a:srgbClr val="8B5CF6">
              <a:alpha val="8000"/>
            </a:srgbClr>
          </a:solidFill>
          <a:ln/>
        </p:spPr>
        <p:txBody>
          <a:bodyPr/>
          <a:p/>
        </p:txBody>
      </p:sp>
      <p:sp>
        <p:nvSpPr>
          <p:cNvPr id="90" name=""/>
          <p:cNvSpPr/>
          <p:nvPr/>
        </p:nvSpPr>
        <p:spPr>
          <a:xfrm rot="0" flipH="0" flipV="0">
            <a:off x="609600" y="5514975"/>
            <a:ext cx="6172200" cy="533400"/>
          </a:xfrm>
          <a:custGeom>
            <a:pathLst>
              <a:path w="648" h="56">
                <a:moveTo>
                  <a:pt x="8" y="0"/>
                </a:moveTo>
                <a:cubicBezTo>
                  <a:pt x="6" y="0"/>
                  <a:pt x="4" y="2"/>
                  <a:pt x="4" y="4"/>
                </a:cubicBezTo>
                <a:lnTo>
                  <a:pt x="4" y="52"/>
                </a:lnTo>
                <a:cubicBezTo>
                  <a:pt x="4" y="54"/>
                  <a:pt x="5" y="56"/>
                  <a:pt x="7" y="56"/>
                </a:cubicBezTo>
                <a:cubicBezTo>
                  <a:pt x="3" y="56"/>
                  <a:pt x="0" y="52"/>
                  <a:pt x="0" y="48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8B5CF6"/>
          </a:solidFill>
          <a:ln/>
        </p:spPr>
        <p:txBody>
          <a:bodyPr/>
          <a:p/>
        </p:txBody>
      </p:sp>
      <p:pic>
        <p:nvPicPr>
          <p:cNvPr id="91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4"/>
              </a:ext>
            </a:extLst>
          </a:blip>
          <a:stretch>
            <a:fillRect/>
          </a:stretch>
        </p:blipFill>
        <p:spPr>
          <a:xfrm rot="0" flipH="0" flipV="0">
            <a:off x="762000" y="5667375"/>
            <a:ext cx="228600" cy="228600"/>
          </a:xfrm>
          <a:prstGeom prst="rect">
            <a:avLst/>
          </a:prstGeom>
          <a:ln/>
        </p:spPr>
      </p:pic>
      <p:sp>
        <p:nvSpPr>
          <p:cNvPr id="92" name="" descr="{&quot;isTemplate&quot;:true,&quot;type&quot;:&quot;text&quot;}"/>
          <p:cNvSpPr txBox="1"/>
          <p:nvPr/>
        </p:nvSpPr>
        <p:spPr>
          <a:xfrm rot="0" flipH="0" flipV="0">
            <a:off x="1104900" y="5695950"/>
            <a:ext cx="32099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i="1">
                <a:solidFill>
                  <a:srgbClr val="1A1A1A"/>
                </a:solidFill>
                <a:latin typeface="Microsoft YaHei"/>
                <a:ea typeface="Microsoft YaHei"/>
              </a:rPr>
              <a:t>Guidance, not answers — students learn by doing.</a:t>
            </a:r>
            <a:endParaRPr/>
          </a:p>
        </p:txBody>
      </p:sp>
      <p:sp>
        <p:nvSpPr>
          <p:cNvPr id="93" name="" descr="{&quot;isTemplate&quot;:true,&quot;type&quot;:&quot;text&quot;}"/>
          <p:cNvSpPr txBox="1"/>
          <p:nvPr/>
        </p:nvSpPr>
        <p:spPr>
          <a:xfrm rot="0" flipH="0" flipV="0">
            <a:off x="762000" y="6505575"/>
            <a:ext cx="17621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94A3B8"/>
                </a:solidFill>
                <a:latin typeface="Microsoft YaHei"/>
                <a:ea typeface="Microsoft YaHei"/>
              </a:rPr>
              <a:t>WorkBuddy AI · Student Pitch</a:t>
            </a:r>
            <a:endParaRPr/>
          </a:p>
        </p:txBody>
      </p:sp>
      <p:sp>
        <p:nvSpPr>
          <p:cNvPr id="94" name="" descr="{&quot;isTemplate&quot;:true,&quot;type&quot;:&quot;text&quot;}"/>
          <p:cNvSpPr txBox="1"/>
          <p:nvPr/>
        </p:nvSpPr>
        <p:spPr>
          <a:xfrm rot="0" flipH="0" flipV="0">
            <a:off x="11020425" y="6505575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94A3B8"/>
                </a:solidFill>
                <a:latin typeface="Microsoft YaHei"/>
                <a:ea typeface="Microsoft YaHei"/>
              </a:rPr>
              <a:t>05 / 07</a:t>
            </a:r>
            <a:endParaRPr/>
          </a:p>
        </p:txBody>
      </p:sp>
    </p:spTree>
  </p:cSld>
</p:sld>
</file>

<file path=ppt/slides/slide6.xml><?xml version="1.0" encoding="utf-8"?>
<p:sld xmlns:asvg="http://schemas.microsoft.com/office/drawing/2016/SVG/main" xmlns:r="http://schemas.openxmlformats.org/officeDocument/2006/relationships" xmlns:p="http://schemas.openxmlformats.org/presentationml/2006/main" xmlns:a="http://schemas.openxmlformats.org/drawingml/2006/main" xmlns:mc="http://schemas.openxmlformats.org/markup-compatibility/2006" mc:Ignorable="asvg">
  <p:cSld>
    <p:spTree>
      <p:nvGrpSpPr>
        <p:cNvPr id="95" name="" descr="&lt;Slide&gt;&#10;  {/* Background */}&#10;  &lt;Box style={{ position: 'absolute', top: 0, left: 0, width: '100%', height: '100%', background: '#FFFFFF' }} /&gt;&#10;&#10;  {/* Upper section: Image banner (50% height) */}&#10;  &lt;Box&#10;    style={{&#10;      position: 'absolute',&#10;      top: 0,&#10;      left: 0,&#10;      width: '100%',&#10;      height: '50%',&#10;      overflow: 'hidden',&#10;    }}&#10;  &gt;&#10;    &lt;Image&#10;      src='assets/exam_prep_demo.png'&#10;      style={{&#10;        width: '100%',&#10;        height: '100%',&#10;        objectFit: 'cover',&#10;      }}&#10;    /&gt;&#10;    {/* Gradient overlay for legibility */}&#10;    &lt;Box&#10;      style={{&#10;        position: 'absolute',&#10;        top: 0,&#10;        left: 0,&#10;        width: '100%',&#10;        height: '100%',&#10;        background: 'linear-gradient(180deg, rgba(15,23,42,0.4) 0%, rgba(249,115,22,0.2) 100%)',&#10;      }}&#10;    /&gt;&#10;  &lt;/Box&gt;&#10;&#10;  {/* Pillar badge on image */}&#10;  &lt;Box&#10;    style={{&#10;      position: 'absolute',&#10;      top: 30,&#10;      left: 80,&#10;      background: 'rgba(249,115,22,0.95)',&#10;      padding: '8px 18px',&#10;      borderRadius: 24,&#10;    }}&#10;  &gt;&#10;    &lt;Text style={{ color: '#FFFFFF', fontSize: 14, fontWeight: 600, letterSpacing: 2 }}&gt;PILLAR 03&lt;/Text&gt;&#10;  &lt;/Box&gt;&#10;&#10;  {/* Title overlay on image */}&#10;  &lt;Box&#10;    style={{&#10;      position: 'absolute',&#10;      top: 70,&#10;      left: 80,&#10;      right: 80,&#10;      flexDirection: 'row',&#10;      alignItems: 'center',&#10;      gap: 12,&#10;    }}&#10;  &gt;&#10;    &lt;Box&#10;      style={{&#10;        width: 48,&#10;        height: 48,&#10;        borderRadius: 12,&#10;        background: 'rgba(255,255,255,0.2)',&#10;        justifyContent: 'center',&#10;        alignItems: 'center',&#10;      }}&#10;    &gt;&#10;      &lt;FAIcon name='graduation-cap' style={{ fill: '#FFFFFF', width: 24, height: 24 }} /&gt;&#10;    &lt;/Box&gt;&#10;    &lt;Text&#10;      style={{&#10;        fontSize: 18,&#10;        fontWeight: 600,&#10;        color: '#FFFFFF',&#10;        letterSpacing: 2,&#10;      }}&#10;    &gt;&#10;      EXAM PREPARATION&#10;    &lt;/Text&gt;&#10;  &lt;/Box&gt;&#10;&#10;  &lt;Text&#10;    style={{&#10;      position: 'absolute',&#10;      top: 130,&#10;      left: 80,&#10;      right: 80,&#10;      fontSize: 44,&#10;      fontWeight: 'bold',&#10;      color: '#FFFFFF',&#10;      lineHeight: 1.15,&#10;    }}&#10;  &gt;&#10;    Adaptive Exam Prep,&lt;br /&gt;&#10;    Built Around You&#10;  &lt;/Text&gt;&#10;&#10;  {/* Lower section: Description + 3 feature cards (50% height) */}&#10;  &lt;Box&#10;    style={{&#10;      position: 'absolute',&#10;      top: '50%',&#10;      left: 0,&#10;      width: '100%',&#10;      height: '50%',&#10;      padding: 40,&#10;      flexDirection: 'column',&#10;      background: '#FFFFFF',&#10;    }}&#10;  &gt;&#10;    {/* Description */}&#10;    &lt;Text&#10;      style={{&#10;        fontSize: 17,&#10;        color: '#64748B',&#10;        lineHeight: 1.5,&#10;        marginBottom: 24,&#10;        maxWidth: 1000,&#10;      }}&#10;    &gt;&#10;      WorkBuddy AI builds personalized study plans from your course materials — generating practice questions, flashcards, and mock exams adapted to your weak spots.&#10;    &lt;/Text&gt;&#10;&#10;    {/* 3 feature cards in asymmetric layout */}&#10;    &lt;Box&#10;      style={{&#10;        flexDirection: 'row',&#10;        gap: 16,&#10;        flex: 1,&#10;      }}&#10;    &gt;&#10;      {/* Card 1: Adaptive plans - wider */}&#10;      &lt;Box&#10;        style={{&#10;          flex: 1.4,&#10;          background: 'linear-gradient(135deg, #FFF7ED 0%, #FFEDD5 100%)',&#10;          borderRadius: 14,&#10;          padding: 20,&#10;          flexDirection: 'column',&#10;          justifyContent: 'space-between',&#10;        }}&#10;      &gt;&#10;        &lt;Box&#10;          style={{&#10;            width: 40,&#10;            height: 40,&#10;            borderRadius: 10,&#10;            background: '#F97316',&#10;            justifyContent: 'center',&#10;            alignItems: 'center',&#10;            marginBottom: 12,&#10;          }}&#10;        &gt;&#10;          &lt;FAIcon name='chart-line' style={{ fill: '#FFFFFF', width: 22, height: 22 }} /&gt;&#10;        &lt;/Box&gt;&#10;        &lt;Box&gt;&#10;          &lt;Text style={{ fontSize: 18, fontWeight: 'bold', color: '#1A1A1A', marginBottom: 4 }}&gt;&#10;            Adaptive Plans&#10;          &lt;/Text&gt;&#10;          &lt;Text style={{ fontSize: 13, color: '#64748B', lineHeight: 1.4 }}&gt;&#10;            Daily study schedule that adjusts as you improve&#10;          &lt;/Text&gt;&#10;        &lt;/Box&gt;&#10;      &lt;/Box&gt;&#10;&#10;      {/* Card 2: Practice questions */}&#10;      &lt;Box&#10;        style={{&#10;          flex: 1,&#10;          background: 'linear-gradient(135deg, #EFF6FF 0%, #DBEAFE 100%)',&#10;          borderRadius: 14,&#10;          padding: 20,&#10;          flexDirection: 'column',&#10;          justifyContent: 'space-between',&#10;        }}&#10;      &gt;&#10;        &lt;Box&#10;          style={{&#10;            width: 40,&#10;            height: 40,&#10;            borderRadius: 10,&#10;            background: '#3B82F6',&#10;            justifyContent: 'center',&#10;            alignItems: 'center',&#10;            marginBottom: 12,&#10;          }}&#10;        &gt;&#10;          &lt;FAIcon name='question-circle' style={{ fill: '#FFFFFF', width: 22, height: 22 }} /&gt;&#10;        &lt;/Box&gt;&#10;        &lt;Box&gt;&#10;          &lt;Text style={{ fontSize: 18, fontWeight: 'bold', color: '#1A1A1A', marginBottom: 4 }}&gt;&#10;            Smart Questions&#10;          &lt;/Text&gt;&#10;          &lt;Text style={{ fontSize: 13, color: '#64748B', lineHeight: 1.4 }}&gt;&#10;            AI-generated practice tests from your materials&#10;          &lt;/Text&gt;&#10;        &lt;/Box&gt;&#10;      &lt;/Box&gt;&#10;&#10;      {/* Card 3: Analytics */}&#10;      &lt;Box&#10;        style={{&#10;          flex: 1,&#10;          background: 'linear-gradient(135deg, #F5F3FF 0%, #EDE9FE 100%)',&#10;          borderRadius: 14,&#10;          padding: 20,&#10;          flexDirection: 'column',&#10;          justifyContent: 'space-between',&#10;        }}&#10;      &gt;&#10;        &lt;Box&#10;          style={{&#10;            width: 40,&#10;            height: 40,&#10;            borderRadius: 10,&#10;            background: '#8B5CF6',&#10;            justifyContent: 'center',&#10;            alignItems: 'center',&#10;            marginBottom: 12,&#10;          }}&#10;        &gt;&#10;          &lt;FAIcon name='chart-bar' style={{ fill: '#FFFFFF', width: 22, height: 22 }} /&gt;&#10;        &lt;/Box&gt;&#10;        &lt;Box&gt;&#10;          &lt;Text style={{ fontSize: 18, fontWeight: 'bold', color: '#1A1A1A', marginBottom: 4 }}&gt;&#10;            Progress Analytics&#10;          &lt;/Text&gt;&#10;          &lt;Text style={{ fontSize: 13, color: '#64748B', lineHeight: 1.4 }}&gt;&#10;            See mastery levels and weak spots instantly&#10;          &lt;/Text&gt;&#10;        &lt;/Box&gt;&#10;      &lt;/Box&gt;&#10;    &lt;/Box&gt;&#10;  &lt;/Box&gt;&#10;&#10;  {/* Footer */}&#10;  &lt;Box&#10;    style={{&#10;      position: 'absolute',&#10;      bottom: 20,&#10;      left: 80,&#10;      right: 80,&#10;      flexDirection: 'row',&#10;      justifyContent: 'space-between',&#10;      alignItems: 'center',&#10;    }}&#10;  &gt;&#10;    &lt;Text style={{ fontSize: 14, color: '#94A3B8' }}&gt;WorkBuddy AI · Student Pitch&lt;/Text&gt;&#10;    &lt;Text style={{ fontSize: 14, color: '#94A3B8' }}&gt;06 / 07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pic>
        <p:nvPicPr>
          <p:cNvPr id="97" name=""/>
          <p:cNvPicPr>
            <a:picLocks noChangeAspect="1"/>
          </p:cNvPicPr>
          <p:nvPr/>
        </p:nvPicPr>
        <p:blipFill>
          <a:blip r:embed="rId1"/>
          <a:srcRect l="0" t="28906" r="0" b="28906"/>
          <a:stretch>
            <a:fillRect/>
          </a:stretch>
        </p:blipFill>
        <p:spPr>
          <a:xfrm rot="0" flipH="0" flipV="0">
            <a:off x="0" y="0"/>
            <a:ext cx="12192000" cy="3429000"/>
          </a:xfrm>
          <a:prstGeom prst="rect">
            <a:avLst/>
          </a:prstGeom>
          <a:ln/>
        </p:spPr>
      </p:pic>
      <p:sp>
        <p:nvSpPr>
          <p:cNvPr id="98" name=""/>
          <p:cNvSpPr/>
          <p:nvPr/>
        </p:nvSpPr>
        <p:spPr>
          <a:xfrm rot="0" flipH="0" flipV="0">
            <a:off x="0" y="0"/>
            <a:ext cx="12192000" cy="3429000"/>
          </a:xfrm>
          <a:prstGeom prst="rect">
            <a:avLst/>
          </a:prstGeom>
          <a:gradFill>
            <a:gsLst>
              <a:gs pos="0">
                <a:srgbClr val="0F172A">
                  <a:alpha val="40000"/>
                </a:srgbClr>
              </a:gs>
              <a:gs pos="100000">
                <a:srgbClr val="F97316">
                  <a:alpha val="20000"/>
                </a:srgbClr>
              </a:gs>
            </a:gsLst>
            <a:lin ang="5400000" scaled="1"/>
          </a:gradFill>
          <a:ln/>
        </p:spPr>
        <p:txBody>
          <a:bodyPr/>
          <a:p/>
        </p:txBody>
      </p:sp>
      <p:sp>
        <p:nvSpPr>
          <p:cNvPr id="99" name=""/>
          <p:cNvSpPr/>
          <p:nvPr/>
        </p:nvSpPr>
        <p:spPr>
          <a:xfrm rot="0" flipH="0" flipV="0">
            <a:off x="762000" y="285750"/>
            <a:ext cx="1190625" cy="314325"/>
          </a:xfrm>
          <a:prstGeom prst="roundRect">
            <a:avLst>
              <a:gd name="adj" fmla="val 72727"/>
            </a:avLst>
          </a:prstGeom>
          <a:solidFill>
            <a:srgbClr val="F97316">
              <a:alpha val="95000"/>
            </a:srgbClr>
          </a:solidFill>
          <a:ln/>
        </p:spPr>
        <p:txBody>
          <a:bodyPr/>
          <a:p/>
        </p:txBody>
      </p:sp>
      <p:sp>
        <p:nvSpPr>
          <p:cNvPr id="100" name="" descr="{&quot;isTemplate&quot;:true,&quot;type&quot;:&quot;text&quot;}"/>
          <p:cNvSpPr txBox="1"/>
          <p:nvPr/>
        </p:nvSpPr>
        <p:spPr>
          <a:xfrm rot="0" flipH="0" flipV="0">
            <a:off x="933450" y="361950"/>
            <a:ext cx="8477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 spc="150">
                <a:solidFill>
                  <a:srgbClr val="FFFFFF"/>
                </a:solidFill>
                <a:latin typeface="Microsoft YaHei"/>
                <a:ea typeface="Microsoft YaHei"/>
              </a:rPr>
              <a:t>PILLAR 03</a:t>
            </a:r>
            <a:endParaRPr/>
          </a:p>
        </p:txBody>
      </p:sp>
      <p:sp>
        <p:nvSpPr>
          <p:cNvPr id="101" name=""/>
          <p:cNvSpPr/>
          <p:nvPr/>
        </p:nvSpPr>
        <p:spPr>
          <a:xfrm rot="0" flipH="0" flipV="0">
            <a:off x="762000" y="666750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FFFFFF">
              <a:alpha val="20000"/>
            </a:srgbClr>
          </a:solidFill>
          <a:ln/>
        </p:spPr>
        <p:txBody>
          <a:bodyPr/>
          <a:p/>
        </p:txBody>
      </p:sp>
      <p:pic>
        <p:nvPicPr>
          <p:cNvPr id="102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876300" y="781050"/>
            <a:ext cx="228600" cy="228600"/>
          </a:xfrm>
          <a:prstGeom prst="rect">
            <a:avLst/>
          </a:prstGeom>
          <a:ln/>
        </p:spPr>
      </p:pic>
      <p:sp>
        <p:nvSpPr>
          <p:cNvPr id="103" name="" descr="{&quot;isTemplate&quot;:true,&quot;type&quot;:&quot;text&quot;}"/>
          <p:cNvSpPr txBox="1"/>
          <p:nvPr/>
        </p:nvSpPr>
        <p:spPr>
          <a:xfrm rot="0" flipH="0" flipV="0">
            <a:off x="1333500" y="790575"/>
            <a:ext cx="210502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 spc="150">
                <a:solidFill>
                  <a:srgbClr val="FFFFFF"/>
                </a:solidFill>
                <a:latin typeface="Microsoft YaHei"/>
                <a:ea typeface="Microsoft YaHei"/>
              </a:rPr>
              <a:t>EXAM PREPARATION</a:t>
            </a:r>
            <a:endParaRPr/>
          </a:p>
        </p:txBody>
      </p:sp>
      <p:sp>
        <p:nvSpPr>
          <p:cNvPr id="104" name="" descr="{&quot;isTemplate&quot;:true,&quot;type&quot;:&quot;text&quot;}"/>
          <p:cNvSpPr txBox="1"/>
          <p:nvPr/>
        </p:nvSpPr>
        <p:spPr>
          <a:xfrm rot="0" flipH="0" flipV="0">
            <a:off x="762000" y="1238250"/>
            <a:ext cx="4171950" cy="1162050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en-US" sz="3300" b="1">
                <a:solidFill>
                  <a:srgbClr val="FFFFFF"/>
                </a:solidFill>
                <a:latin typeface="Microsoft YaHei"/>
                <a:ea typeface="Microsoft YaHei"/>
              </a:rPr>
              <a:t>Adaptive Exam Prep,</a:t>
            </a:r>
            <a:endParaRPr/>
          </a:p>
          <a:p>
            <a:pPr>
              <a:lnSpc>
                <a:spcPct val="114999"/>
              </a:lnSpc>
            </a:pPr>
            <a:r>
              <a:rPr lang="en-US" sz="3300" b="1">
                <a:solidFill>
                  <a:srgbClr val="FFFFFF"/>
                </a:solidFill>
                <a:latin typeface="Microsoft YaHei"/>
                <a:ea typeface="Microsoft YaHei"/>
              </a:rPr>
              <a:t>Built Around You</a:t>
            </a:r>
            <a:endParaRPr/>
          </a:p>
        </p:txBody>
      </p:sp>
      <p:sp>
        <p:nvSpPr>
          <p:cNvPr id="105" name=""/>
          <p:cNvSpPr/>
          <p:nvPr/>
        </p:nvSpPr>
        <p:spPr>
          <a:xfrm rot="0" flipH="0" flipV="0">
            <a:off x="0" y="3429000"/>
            <a:ext cx="12192000" cy="3429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06" name="" descr="{&quot;isTemplate&quot;:true,&quot;type&quot;:&quot;text&quot;}"/>
          <p:cNvSpPr txBox="1"/>
          <p:nvPr/>
        </p:nvSpPr>
        <p:spPr>
          <a:xfrm rot="0" flipH="0" flipV="0">
            <a:off x="381000" y="3810000"/>
            <a:ext cx="11430000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1275">
                <a:solidFill>
                  <a:srgbClr val="64748B"/>
                </a:solidFill>
                <a:latin typeface="Microsoft YaHei"/>
                <a:ea typeface="Microsoft YaHei"/>
              </a:rPr>
              <a:t>WorkBuddy AI builds personalized study plans from your course materials — generating practice questions, flashcards, and mock exams adapted to your weak spots.</a:t>
            </a:r>
            <a:endParaRPr/>
          </a:p>
        </p:txBody>
      </p:sp>
      <p:sp>
        <p:nvSpPr>
          <p:cNvPr id="107" name=""/>
          <p:cNvSpPr/>
          <p:nvPr/>
        </p:nvSpPr>
        <p:spPr>
          <a:xfrm rot="0" flipH="0" flipV="0">
            <a:off x="381000" y="4629150"/>
            <a:ext cx="4581525" cy="1847850"/>
          </a:xfrm>
          <a:prstGeom prst="roundRect">
            <a:avLst>
              <a:gd name="adj" fmla="val 7216"/>
            </a:avLst>
          </a:prstGeom>
          <a:gradFill>
            <a:gsLst>
              <a:gs pos="0">
                <a:srgbClr val="FFF7ED"/>
              </a:gs>
              <a:gs pos="100000">
                <a:srgbClr val="FFEDD5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108" name=""/>
          <p:cNvSpPr/>
          <p:nvPr/>
        </p:nvSpPr>
        <p:spPr>
          <a:xfrm rot="0" flipH="0" flipV="0">
            <a:off x="571500" y="4819650"/>
            <a:ext cx="381000" cy="381000"/>
          </a:xfrm>
          <a:prstGeom prst="roundRect">
            <a:avLst>
              <a:gd name="adj" fmla="val 25000"/>
            </a:avLst>
          </a:prstGeom>
          <a:solidFill>
            <a:srgbClr val="F97316"/>
          </a:solidFill>
          <a:ln/>
        </p:spPr>
        <p:txBody>
          <a:bodyPr/>
          <a:p/>
        </p:txBody>
      </p:sp>
      <p:pic>
        <p:nvPicPr>
          <p:cNvPr id="109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657225" y="4905375"/>
            <a:ext cx="209550" cy="209550"/>
          </a:xfrm>
          <a:prstGeom prst="rect">
            <a:avLst/>
          </a:prstGeom>
          <a:ln/>
        </p:spPr>
      </p:pic>
      <p:sp>
        <p:nvSpPr>
          <p:cNvPr id="110" name="" descr="{&quot;isTemplate&quot;:true,&quot;type&quot;:&quot;text&quot;}"/>
          <p:cNvSpPr txBox="1"/>
          <p:nvPr/>
        </p:nvSpPr>
        <p:spPr>
          <a:xfrm rot="0" flipH="0" flipV="0">
            <a:off x="571500" y="5829300"/>
            <a:ext cx="420052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1A1A1A"/>
                </a:solidFill>
                <a:latin typeface="Microsoft YaHei"/>
                <a:ea typeface="Microsoft YaHei"/>
              </a:rPr>
              <a:t>Adaptive Plans</a:t>
            </a:r>
            <a:endParaRPr/>
          </a:p>
        </p:txBody>
      </p:sp>
      <p:sp>
        <p:nvSpPr>
          <p:cNvPr id="111" name="" descr="{&quot;isTemplate&quot;:true,&quot;type&quot;:&quot;text&quot;}"/>
          <p:cNvSpPr txBox="1"/>
          <p:nvPr/>
        </p:nvSpPr>
        <p:spPr>
          <a:xfrm rot="0" flipH="0" flipV="0">
            <a:off x="571500" y="6076950"/>
            <a:ext cx="4200525" cy="2095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975">
                <a:solidFill>
                  <a:srgbClr val="64748B"/>
                </a:solidFill>
                <a:latin typeface="Microsoft YaHei"/>
                <a:ea typeface="Microsoft YaHei"/>
              </a:rPr>
              <a:t>Daily study schedule that adjusts as you improve</a:t>
            </a:r>
            <a:endParaRPr/>
          </a:p>
        </p:txBody>
      </p:sp>
      <p:sp>
        <p:nvSpPr>
          <p:cNvPr id="112" name=""/>
          <p:cNvSpPr/>
          <p:nvPr/>
        </p:nvSpPr>
        <p:spPr>
          <a:xfrm rot="0" flipH="0" flipV="0">
            <a:off x="5114925" y="4629150"/>
            <a:ext cx="3267075" cy="1847850"/>
          </a:xfrm>
          <a:prstGeom prst="roundRect">
            <a:avLst>
              <a:gd name="adj" fmla="val 7216"/>
            </a:avLst>
          </a:prstGeom>
          <a:gradFill>
            <a:gsLst>
              <a:gs pos="0">
                <a:srgbClr val="EFF6FF"/>
              </a:gs>
              <a:gs pos="100000">
                <a:srgbClr val="DBEAFE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113" name=""/>
          <p:cNvSpPr/>
          <p:nvPr/>
        </p:nvSpPr>
        <p:spPr>
          <a:xfrm rot="0" flipH="0" flipV="0">
            <a:off x="5305425" y="4819650"/>
            <a:ext cx="381000" cy="381000"/>
          </a:xfrm>
          <a:prstGeom prst="roundRect">
            <a:avLst>
              <a:gd name="adj" fmla="val 25000"/>
            </a:avLst>
          </a:prstGeom>
          <a:solidFill>
            <a:srgbClr val="3B82F6"/>
          </a:solidFill>
          <a:ln/>
        </p:spPr>
        <p:txBody>
          <a:bodyPr/>
          <a:p/>
        </p:txBody>
      </p:sp>
      <p:pic>
        <p:nvPicPr>
          <p:cNvPr id="114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4"/>
              </a:ext>
            </a:extLst>
          </a:blip>
          <a:stretch>
            <a:fillRect/>
          </a:stretch>
        </p:blipFill>
        <p:spPr>
          <a:xfrm rot="0" flipH="0" flipV="0">
            <a:off x="5391150" y="4905375"/>
            <a:ext cx="209550" cy="209550"/>
          </a:xfrm>
          <a:prstGeom prst="rect">
            <a:avLst/>
          </a:prstGeom>
          <a:ln/>
        </p:spPr>
      </p:pic>
      <p:sp>
        <p:nvSpPr>
          <p:cNvPr id="115" name="" descr="{&quot;isTemplate&quot;:true,&quot;type&quot;:&quot;text&quot;}"/>
          <p:cNvSpPr txBox="1"/>
          <p:nvPr/>
        </p:nvSpPr>
        <p:spPr>
          <a:xfrm rot="0" flipH="0" flipV="0">
            <a:off x="5305425" y="5829300"/>
            <a:ext cx="288607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1A1A1A"/>
                </a:solidFill>
                <a:latin typeface="Microsoft YaHei"/>
                <a:ea typeface="Microsoft YaHei"/>
              </a:rPr>
              <a:t>Smart Questions</a:t>
            </a:r>
            <a:endParaRPr/>
          </a:p>
        </p:txBody>
      </p:sp>
      <p:sp>
        <p:nvSpPr>
          <p:cNvPr id="116" name="" descr="{&quot;isTemplate&quot;:true,&quot;type&quot;:&quot;text&quot;}"/>
          <p:cNvSpPr txBox="1"/>
          <p:nvPr/>
        </p:nvSpPr>
        <p:spPr>
          <a:xfrm rot="0" flipH="0" flipV="0">
            <a:off x="5305425" y="6076950"/>
            <a:ext cx="2886075" cy="2095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975">
                <a:solidFill>
                  <a:srgbClr val="64748B"/>
                </a:solidFill>
                <a:latin typeface="Microsoft YaHei"/>
                <a:ea typeface="Microsoft YaHei"/>
              </a:rPr>
              <a:t>AI-generated practice tests from your materials</a:t>
            </a:r>
            <a:endParaRPr/>
          </a:p>
        </p:txBody>
      </p:sp>
      <p:sp>
        <p:nvSpPr>
          <p:cNvPr id="117" name=""/>
          <p:cNvSpPr/>
          <p:nvPr/>
        </p:nvSpPr>
        <p:spPr>
          <a:xfrm rot="0" flipH="0" flipV="0">
            <a:off x="8534400" y="4629150"/>
            <a:ext cx="3276600" cy="1847850"/>
          </a:xfrm>
          <a:prstGeom prst="roundRect">
            <a:avLst>
              <a:gd name="adj" fmla="val 7216"/>
            </a:avLst>
          </a:prstGeom>
          <a:gradFill>
            <a:gsLst>
              <a:gs pos="0">
                <a:srgbClr val="F5F3FF"/>
              </a:gs>
              <a:gs pos="100000">
                <a:srgbClr val="EDE9FE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118" name=""/>
          <p:cNvSpPr/>
          <p:nvPr/>
        </p:nvSpPr>
        <p:spPr>
          <a:xfrm rot="0" flipH="0" flipV="0">
            <a:off x="8724900" y="4819650"/>
            <a:ext cx="381000" cy="381000"/>
          </a:xfrm>
          <a:prstGeom prst="roundRect">
            <a:avLst>
              <a:gd name="adj" fmla="val 25000"/>
            </a:avLst>
          </a:prstGeom>
          <a:solidFill>
            <a:srgbClr val="8B5CF6"/>
          </a:solidFill>
          <a:ln/>
        </p:spPr>
        <p:txBody>
          <a:bodyPr/>
          <a:p/>
        </p:txBody>
      </p:sp>
      <p:pic>
        <p:nvPicPr>
          <p:cNvPr id="119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5"/>
              </a:ext>
            </a:extLst>
          </a:blip>
          <a:stretch>
            <a:fillRect/>
          </a:stretch>
        </p:blipFill>
        <p:spPr>
          <a:xfrm rot="0" flipH="0" flipV="0">
            <a:off x="8810625" y="4905375"/>
            <a:ext cx="209550" cy="209550"/>
          </a:xfrm>
          <a:prstGeom prst="rect">
            <a:avLst/>
          </a:prstGeom>
          <a:ln/>
        </p:spPr>
      </p:pic>
      <p:sp>
        <p:nvSpPr>
          <p:cNvPr id="120" name="" descr="{&quot;isTemplate&quot;:true,&quot;type&quot;:&quot;text&quot;}"/>
          <p:cNvSpPr txBox="1"/>
          <p:nvPr/>
        </p:nvSpPr>
        <p:spPr>
          <a:xfrm rot="0" flipH="0" flipV="0">
            <a:off x="8724900" y="5829300"/>
            <a:ext cx="28956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1A1A1A"/>
                </a:solidFill>
                <a:latin typeface="Microsoft YaHei"/>
                <a:ea typeface="Microsoft YaHei"/>
              </a:rPr>
              <a:t>Progress Analytics</a:t>
            </a:r>
            <a:endParaRPr/>
          </a:p>
        </p:txBody>
      </p:sp>
      <p:sp>
        <p:nvSpPr>
          <p:cNvPr id="121" name="" descr="{&quot;isTemplate&quot;:true,&quot;type&quot;:&quot;text&quot;}"/>
          <p:cNvSpPr txBox="1"/>
          <p:nvPr/>
        </p:nvSpPr>
        <p:spPr>
          <a:xfrm rot="0" flipH="0" flipV="0">
            <a:off x="8724900" y="6076950"/>
            <a:ext cx="2895600" cy="2095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975">
                <a:solidFill>
                  <a:srgbClr val="64748B"/>
                </a:solidFill>
                <a:latin typeface="Microsoft YaHei"/>
                <a:ea typeface="Microsoft YaHei"/>
              </a:rPr>
              <a:t>See mastery levels and weak spots instantly</a:t>
            </a:r>
            <a:endParaRPr/>
          </a:p>
        </p:txBody>
      </p:sp>
      <p:sp>
        <p:nvSpPr>
          <p:cNvPr id="122" name="" descr="{&quot;isTemplate&quot;:true,&quot;type&quot;:&quot;text&quot;}"/>
          <p:cNvSpPr txBox="1"/>
          <p:nvPr/>
        </p:nvSpPr>
        <p:spPr>
          <a:xfrm rot="0" flipH="0" flipV="0">
            <a:off x="762000" y="6505575"/>
            <a:ext cx="17621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94A3B8"/>
                </a:solidFill>
                <a:latin typeface="Microsoft YaHei"/>
                <a:ea typeface="Microsoft YaHei"/>
              </a:rPr>
              <a:t>WorkBuddy AI · Student Pitch</a:t>
            </a:r>
            <a:endParaRPr/>
          </a:p>
        </p:txBody>
      </p:sp>
      <p:sp>
        <p:nvSpPr>
          <p:cNvPr id="123" name="" descr="{&quot;isTemplate&quot;:true,&quot;type&quot;:&quot;text&quot;}"/>
          <p:cNvSpPr txBox="1"/>
          <p:nvPr/>
        </p:nvSpPr>
        <p:spPr>
          <a:xfrm rot="0" flipH="0" flipV="0">
            <a:off x="11020425" y="6505575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94A3B8"/>
                </a:solidFill>
                <a:latin typeface="Microsoft YaHei"/>
                <a:ea typeface="Microsoft YaHei"/>
              </a:rPr>
              <a:t>06 / 07</a:t>
            </a:r>
            <a:endParaRPr/>
          </a:p>
        </p:txBody>
      </p:sp>
    </p:spTree>
  </p:cSld>
</p:sld>
</file>

<file path=ppt/slides/slide7.xml><?xml version="1.0" encoding="utf-8"?>
<p:sld xmlns:asvg="http://schemas.microsoft.com/office/drawing/2016/SVG/main" xmlns:r="http://schemas.openxmlformats.org/officeDocument/2006/relationships" xmlns:p="http://schemas.openxmlformats.org/presentationml/2006/main" xmlns:a="http://schemas.openxmlformats.org/drawingml/2006/main" xmlns:mc="http://schemas.openxmlformats.org/markup-compatibility/2006" mc:Ignorable="asvg">
  <p:cSld>
    <p:spTree>
      <p:nvGrpSpPr>
        <p:cNvPr id="124" name="" descr="&lt;Slide&gt;&#10;  {/* Full-bleed background image */}&#10;  &lt;Image&#10;    src='assets/closing_bg.png'&#10;    style={{&#10;      position: 'absolute',&#10;      top: 0,&#10;      left: 0,&#10;      width: '100%',&#10;      height: '100%',&#10;      objectFit: 'cover',&#10;    }}&#10;  /&gt;&#10;&#10;  {/* Dark gradient overlay for text contrast */}&#10;  &lt;Box&#10;    style={{&#10;      position: 'absolute',&#10;      top: 0,&#10;      left: 0,&#10;      width: '100%',&#10;      height: '100%',&#10;      background: 'linear-gradient(135deg, rgba(15,23,42,0.75) 0%, rgba(59,130,246,0.55) 50%, rgba(139,92,246,0.5) 100%)',&#10;    }}&#10;  /&gt;&#10;&#10;  {/* Content centered */}&#10;  &lt;Box&#10;    style={{&#10;      position: 'absolute',&#10;      top: 0,&#10;      left: 0,&#10;      width: '100%',&#10;      height: '100%',&#10;      padding: 80,&#10;      flexDirection: 'column',&#10;      justifyContent: 'center',&#10;      alignItems: 'center',&#10;    }}&#10;  &gt;&#10;    {/* Eyebrow */}&#10;    &lt;Box&#10;      style={{&#10;        background: 'rgba(249,115,22,0.95)',&#10;        padding: '10px 24px',&#10;        borderRadius: 24,&#10;        marginBottom: 32,&#10;      }}&#10;    &gt;&#10;      &lt;Text style={{ color: '#FFFFFF', fontSize: 16, fontWeight: 600, letterSpacing: 3 }}&gt;&#10;        READY TO START?&#10;      &lt;/Text&gt;&#10;    &lt;/Box&gt;&#10;&#10;    {/* Main title */}&#10;    &lt;Text&#10;      style={{&#10;        fontSize: 80,&#10;        fontWeight: 'bold',&#10;        color: '#FFFFFF',&#10;        lineHeight: 1.1,&#10;        textAlign: 'center',&#10;        marginBottom: 24,&#10;      }}&#10;    &gt;&#10;      Study Smarter,&#10;    &lt;/Text&gt;&#10;    &lt;Text&#10;      style={{&#10;        fontSize: 80,&#10;        fontWeight: 'bold',&#10;        lineHeight: 1.1,&#10;        textAlign: 'center',&#10;        marginBottom: 32,&#10;        backgroundImage: 'linear-gradient(135deg, #FCD34D 0%, #F97316 100%)',&#10;        backgroundClip: 'text',&#10;        color: 'transparent',&#10;      }}&#10;    &gt;&#10;      Not Harder.&#10;    &lt;/Text&gt;&#10;&#10;    {/* Subtitle */}&#10;    &lt;Text&#10;      style={{&#10;        fontSize: 24,&#10;        color: 'rgba(255,255,255,0.9)',&#10;        lineHeight: 1.5,&#10;        textAlign: 'center',&#10;        marginBottom: 48,&#10;        maxWidth: 720,&#10;      }}&#10;    &gt;&#10;      One AI agent for slides, assignments, and exams.&lt;br /&gt;&#10;      Less stress. Better results. More time for what matters.&#10;    &lt;/Text&gt;&#10;&#10;    {/* CTA button */}&#10;    &lt;Box&#10;      style={{&#10;        background: 'linear-gradient(135deg, #F97316 0%, #EA580C 100%)',&#10;        padding: '18px 48px',&#10;        borderRadius: 32,&#10;        boxShadow: '0 8px 30px rgba(249,115,22,0.5)',&#10;        flexDirection: 'row',&#10;        alignItems: 'center',&#10;        gap: 12,&#10;      }}&#10;    &gt;&#10;      &lt;Text style={{ color: '#FFFFFF', fontSize: 22, fontWeight: 'bold' }}&gt;&#10;        Start Your Free Trial Today&#10;      &lt;/Text&gt;&#10;      &lt;FAIcon name='arrow-right' style={{ fill: '#FFFFFF', width: 24, height: 24 }} /&gt;&#10;    &lt;/Box&gt;&#10;&#10;    {/* Footer brand mark */}&#10;    &lt;Box&#10;      style={{&#10;        position: 'absolute',&#10;        bottom: 30,&#10;        left: 0,&#10;        width: '100%',&#10;        flexDirection: 'row',&#10;        justifyContent: 'center',&#10;        alignItems: 'center',&#10;        gap: 8,&#10;      }}&#10;    &gt;&#10;      &lt;Box&#10;        style={{&#10;          width: 32,&#10;          height: 32,&#10;          borderRadius: 8,&#10;          background: 'rgba(255,255,255,0.2)',&#10;          justifyContent: 'center',&#10;          alignItems: 'center',&#10;        }}&#10;      &gt;&#10;        &lt;FAIcon name='graduation-cap' style={{ fill: '#FFFFFF', width: 18, height: 18 }} /&gt;&#10;      &lt;/Box&gt;&#10;      &lt;Text style={{ color: '#FFFFFF', fontSize: 16, fontWeight: 600 }}&gt;&#10;        WorkBuddy AI&#10;      &lt;/Text&gt;&#10;    &lt;/Box&gt;&#10;  &lt;/Box&gt;&#10;&#10;  {/* Page number */}&#10;  &lt;Text&#10;    style={{&#10;      position: 'absolute',&#10;      bottom: 30,&#10;      right: 80,&#10;      fontSize: 14,&#10;      color: 'rgba(255,255,255,0.7)',&#10;    }}&#10;  &gt;&#10;    07 / 07&#10;  &lt;/Text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" name=""/>
          <p:cNvPicPr>
            <a:picLocks noChangeAspect="1"/>
          </p:cNvPicPr>
          <p:nvPr/>
        </p:nvPicPr>
        <p:blipFill>
          <a:blip r:embed="rId1"/>
          <a:srcRect l="0" t="7812" r="0" b="7812"/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  <p:sp>
        <p:nvSpPr>
          <p:cNvPr id="12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F172A">
                  <a:alpha val="75000"/>
                </a:srgbClr>
              </a:gs>
              <a:gs pos="50000">
                <a:srgbClr val="3B82F6">
                  <a:alpha val="55000"/>
                </a:srgbClr>
              </a:gs>
              <a:gs pos="100000">
                <a:srgbClr val="8B5CF6">
                  <a:alpha val="50000"/>
                </a:srgbClr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127" name=""/>
          <p:cNvSpPr/>
          <p:nvPr/>
        </p:nvSpPr>
        <p:spPr>
          <a:xfrm rot="0" flipH="0" flipV="0">
            <a:off x="4933950" y="866775"/>
            <a:ext cx="2324100" cy="381000"/>
          </a:xfrm>
          <a:prstGeom prst="roundRect">
            <a:avLst>
              <a:gd name="adj" fmla="val 60000"/>
            </a:avLst>
          </a:prstGeom>
          <a:solidFill>
            <a:srgbClr val="F97316">
              <a:alpha val="95000"/>
            </a:srgbClr>
          </a:solidFill>
          <a:ln/>
        </p:spPr>
        <p:txBody>
          <a:bodyPr/>
          <a:p/>
        </p:txBody>
      </p:sp>
      <p:sp>
        <p:nvSpPr>
          <p:cNvPr id="128" name="" descr="{&quot;isTemplate&quot;:true,&quot;type&quot;:&quot;text&quot;}"/>
          <p:cNvSpPr txBox="1"/>
          <p:nvPr/>
        </p:nvSpPr>
        <p:spPr>
          <a:xfrm rot="0" flipH="0" flipV="0">
            <a:off x="5162550" y="962025"/>
            <a:ext cx="18669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 spc="225">
                <a:solidFill>
                  <a:srgbClr val="FFFFFF"/>
                </a:solidFill>
                <a:latin typeface="Microsoft YaHei"/>
                <a:ea typeface="Microsoft YaHei"/>
              </a:rPr>
              <a:t>READY TO START?</a:t>
            </a:r>
            <a:endParaRPr/>
          </a:p>
        </p:txBody>
      </p:sp>
      <p:sp>
        <p:nvSpPr>
          <p:cNvPr id="129" name="" descr="{&quot;isTemplate&quot;:true,&quot;type&quot;:&quot;text&quot;}"/>
          <p:cNvSpPr txBox="1"/>
          <p:nvPr/>
        </p:nvSpPr>
        <p:spPr>
          <a:xfrm rot="0" flipH="0" flipV="0">
            <a:off x="3409950" y="1552575"/>
            <a:ext cx="5381625" cy="1009650"/>
          </a:xfrm>
          <a:prstGeom prst="rect"/>
        </p:spPr>
        <p:txBody>
          <a:bodyPr wrap="none" lIns="0" tIns="0" rIns="0" bIns="0"/>
          <a:p>
            <a:pPr algn="ctr">
              <a:lnSpc>
                <a:spcPct val="110000"/>
              </a:lnSpc>
            </a:pPr>
            <a:r>
              <a:rPr lang="en-US" sz="6000" b="1">
                <a:solidFill>
                  <a:srgbClr val="FFFFFF"/>
                </a:solidFill>
                <a:latin typeface="Microsoft YaHei"/>
                <a:ea typeface="Microsoft YaHei"/>
              </a:rPr>
              <a:t>Study Smarter,</a:t>
            </a:r>
            <a:endParaRPr/>
          </a:p>
        </p:txBody>
      </p:sp>
      <p:sp>
        <p:nvSpPr>
          <p:cNvPr id="130" name="" descr="{&quot;isTemplate&quot;:true,&quot;type&quot;:&quot;text&quot;}"/>
          <p:cNvSpPr txBox="1"/>
          <p:nvPr/>
        </p:nvSpPr>
        <p:spPr>
          <a:xfrm rot="0" flipH="0" flipV="0">
            <a:off x="4038600" y="2790825"/>
            <a:ext cx="4114800" cy="1009650"/>
          </a:xfrm>
          <a:prstGeom prst="rect"/>
        </p:spPr>
        <p:txBody>
          <a:bodyPr wrap="none" lIns="0" tIns="0" rIns="0" bIns="0"/>
          <a:p>
            <a:pPr algn="ctr">
              <a:lnSpc>
                <a:spcPct val="110000"/>
              </a:lnSpc>
            </a:pPr>
            <a:r>
              <a:rPr lang="en-US" sz="6000" b="1">
                <a:gradFill>
                  <a:gsLst>
                    <a:gs pos="0">
                      <a:srgbClr val="FCD34D"/>
                    </a:gs>
                    <a:gs pos="100000">
                      <a:srgbClr val="F97316"/>
                    </a:gs>
                  </a:gsLst>
                  <a:lin ang="2700000" scaled="1"/>
                </a:gradFill>
                <a:latin typeface="Microsoft YaHei"/>
                <a:ea typeface="Microsoft YaHei"/>
              </a:rPr>
              <a:t>Not Harder.</a:t>
            </a:r>
            <a:endParaRPr/>
          </a:p>
        </p:txBody>
      </p:sp>
      <p:sp>
        <p:nvSpPr>
          <p:cNvPr id="131" name="" descr="{&quot;isTemplate&quot;:true,&quot;type&quot;:&quot;text&quot;}"/>
          <p:cNvSpPr txBox="1"/>
          <p:nvPr/>
        </p:nvSpPr>
        <p:spPr>
          <a:xfrm rot="0" flipH="0" flipV="0">
            <a:off x="3324225" y="4105275"/>
            <a:ext cx="5543550" cy="828675"/>
          </a:xfrm>
          <a:prstGeom prst="rect"/>
        </p:spPr>
        <p:txBody>
          <a:bodyPr wrap="none" lIns="0" tIns="0" rIns="0" bIns="0"/>
          <a:p>
            <a:pPr algn="ctr">
              <a:lnSpc>
                <a:spcPct val="150000"/>
              </a:lnSpc>
            </a:pPr>
            <a:r>
              <a:rPr lang="en-US" sz="1800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>One AI agent for slides, assignments, and exams.</a:t>
            </a:r>
            <a:endParaRPr/>
          </a:p>
          <a:p>
            <a:pPr algn="ctr">
              <a:lnSpc>
                <a:spcPct val="150000"/>
              </a:lnSpc>
            </a:pPr>
            <a:r>
              <a:rPr lang="en-US" sz="1800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>Less stress. Better results. More time for what matters.</a:t>
            </a:r>
            <a:endParaRPr/>
          </a:p>
        </p:txBody>
      </p:sp>
      <p:sp>
        <p:nvSpPr>
          <p:cNvPr id="132" name=""/>
          <p:cNvSpPr/>
          <p:nvPr/>
        </p:nvSpPr>
        <p:spPr>
          <a:xfrm rot="0" flipH="0" flipV="0">
            <a:off x="4143375" y="5391150"/>
            <a:ext cx="3905250" cy="600075"/>
          </a:xfrm>
          <a:prstGeom prst="roundRect">
            <a:avLst>
              <a:gd name="adj" fmla="val 50794"/>
            </a:avLst>
          </a:prstGeom>
          <a:gradFill>
            <a:gsLst>
              <a:gs pos="0">
                <a:srgbClr val="F97316"/>
              </a:gs>
              <a:gs pos="100000">
                <a:srgbClr val="EA580C"/>
              </a:gs>
            </a:gsLst>
            <a:lin ang="2700000" scaled="1"/>
          </a:gradFill>
          <a:ln/>
          <a:effectLst>
            <a:outerShdw blurRad="285750" dist="76200" dir="5400000">
              <a:srgbClr val="F97316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133" name="" descr="{&quot;isTemplate&quot;:true,&quot;type&quot;:&quot;text&quot;}"/>
          <p:cNvSpPr txBox="1"/>
          <p:nvPr/>
        </p:nvSpPr>
        <p:spPr>
          <a:xfrm rot="0" flipH="0" flipV="0">
            <a:off x="4600575" y="5562600"/>
            <a:ext cx="26479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FFFFFF"/>
                </a:solidFill>
                <a:latin typeface="Microsoft YaHei"/>
                <a:ea typeface="Microsoft YaHei"/>
              </a:rPr>
              <a:t>Start Your Free Trial Today</a:t>
            </a:r>
            <a:endParaRPr/>
          </a:p>
        </p:txBody>
      </p:sp>
      <p:pic>
        <p:nvPicPr>
          <p:cNvPr id="134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7362825" y="5581650"/>
            <a:ext cx="228600" cy="228600"/>
          </a:xfrm>
          <a:prstGeom prst="rect">
            <a:avLst/>
          </a:prstGeom>
          <a:ln/>
        </p:spPr>
      </p:pic>
      <p:sp>
        <p:nvSpPr>
          <p:cNvPr id="135" name=""/>
          <p:cNvSpPr/>
          <p:nvPr/>
        </p:nvSpPr>
        <p:spPr>
          <a:xfrm rot="0" flipH="0" flipV="0">
            <a:off x="5381625" y="6267450"/>
            <a:ext cx="304800" cy="304800"/>
          </a:xfrm>
          <a:prstGeom prst="roundRect">
            <a:avLst>
              <a:gd name="adj" fmla="val 25000"/>
            </a:avLst>
          </a:prstGeom>
          <a:solidFill>
            <a:srgbClr val="FFFFFF">
              <a:alpha val="20000"/>
            </a:srgbClr>
          </a:solidFill>
          <a:ln/>
        </p:spPr>
        <p:txBody>
          <a:bodyPr/>
          <a:p/>
        </p:txBody>
      </p:sp>
      <p:pic>
        <p:nvPicPr>
          <p:cNvPr id="136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5448300" y="6334125"/>
            <a:ext cx="171450" cy="171450"/>
          </a:xfrm>
          <a:prstGeom prst="rect">
            <a:avLst/>
          </a:prstGeom>
          <a:ln/>
        </p:spPr>
      </p:pic>
      <p:sp>
        <p:nvSpPr>
          <p:cNvPr id="137" name="" descr="{&quot;isTemplate&quot;:true,&quot;type&quot;:&quot;text&quot;}"/>
          <p:cNvSpPr txBox="1"/>
          <p:nvPr/>
        </p:nvSpPr>
        <p:spPr>
          <a:xfrm rot="0" flipH="0" flipV="0">
            <a:off x="5762625" y="6324600"/>
            <a:ext cx="10477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FFFFF"/>
                </a:solidFill>
                <a:latin typeface="Microsoft YaHei"/>
                <a:ea typeface="Microsoft YaHei"/>
              </a:rPr>
              <a:t>WorkBuddy AI</a:t>
            </a:r>
            <a:endParaRPr/>
          </a:p>
        </p:txBody>
      </p:sp>
      <p:sp>
        <p:nvSpPr>
          <p:cNvPr id="138" name="" descr="{&quot;isTemplate&quot;:true,&quot;type&quot;:&quot;text&quot;}"/>
          <p:cNvSpPr txBox="1"/>
          <p:nvPr/>
        </p:nvSpPr>
        <p:spPr>
          <a:xfrm rot="0" flipH="0" flipV="0">
            <a:off x="11020425" y="6410325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FFFFFF">
                    <a:alpha val="70000"/>
                  </a:srgbClr>
                </a:solidFill>
                <a:latin typeface="Microsoft YaHei"/>
                <a:ea typeface="Microsoft YaHei"/>
              </a:rPr>
              <a:t>07 / 07</a:t>
            </a:r>
            <a:endParaRPr/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Tencent office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2026-10-10T13:21:29Z</dcterms:created>
  <dcterms:modified xsi:type="dcterms:W3CDTF">2026-10-10T13:21:29Z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{"AIGC":{"Label":"1","ContentProducer":"00119111010856365494821B355","ProduceID":"01a123fcbbac7cbeb315a5eafd5f8e47","ReservedCode1":"","ContentPropagator":"00119111010856365494821B355","PropagateID":"01a123fcbbac7cbeb315a5eafd5f8e47","ReservedCode2":""}}</vt:lpwstr>
  </property>
</Properties>
</file>